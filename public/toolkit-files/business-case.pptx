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walkthrough of the business case template. By the end you should be able to fill any of the thirteen sections without asking what belongs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lines from the template itself. The document is not a pitch — it is the argument with its workings left in. And the decision it serves has five outcomes, not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Sections one to three. Before anyone can judge the money, they need to know what is being asked and where the boundary sits.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this last. A sponsor who reads only this canvas should be able to act. Five boxes, one paragraph each, nothing carried over from the body of the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questions only: why now, and what evidence triggered it. Resist the temptation to write a history of the department.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out-of-scope column is the one that saves you later. An empty right-hand column means the scope has not been agreed, it has only been written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Sections four to six. A single proposal with no alternatives reads as a preference. Three options with a stated loser reads as a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Plain terms means a reader outside your function understands what will exist at the end. Three boxes: the capability, the route to it, and what has to be true for it to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Always include do nothing as an option. It is the one the board will compare everything against whether you list it or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phase needs a named owner, not a team name. Dates should be in quarters if you cannot commit to weeks.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Sections seven to ten. This is where most business cases are won or lost, because it is the only part anyone will check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benefit with no baseline is a promise. If you cannot state today's number, the first phase of the work is measuring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separate tables deliberately. Sponsors approve the one-off number and then inherit the recurring one, so never merge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basis column is the whole point. A saving someone can recalculate in twelve months is credible; one that cannot be traced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Sections eleven to thirteen. The closing sections are what turn a document into an approval.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or five risks, each with a named watcher. A risk register with fifteen entries and no owners tells the board nobody is actually holding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should be executable the morning after approval. The appendix is where the detail lives so the main document stays readable.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template ends with a decision block rather than a summary, because the document exists to produce one. Fill all four fields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87" cy="10286978"/>
          </a:xfrm>
          <a:prstGeom prst="rect">
            <a:avLst/>
          </a:prstGeom>
          <a:gradFill rotWithShape="1">
            <a:gsLst>
              <a:gs pos="0">
                <a:srgbClr val="FAFBFE">
                  <a:alpha val="100000"/>
                </a:srgbClr>
              </a:gs>
              <a:gs pos="45000">
                <a:srgbClr val="EEF2FE">
                  <a:alpha val="100000"/>
                </a:srgbClr>
              </a:gs>
              <a:gs pos="100000">
                <a:srgbClr val="F3ECFE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14065676" y="-1142943"/>
            <a:ext cx="4984246" cy="4984246"/>
          </a:xfrm>
          <a:prstGeom prst="roundRect">
            <a:avLst>
              <a:gd name="adj" fmla="val 22932"/>
            </a:avLst>
          </a:prstGeom>
          <a:ln w="15651">
            <a:solidFill>
              <a:srgbClr val="6366F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52" y="1142943"/>
            <a:ext cx="2857480" cy="2857480"/>
          </a:xfrm>
          <a:prstGeom prst="roundRect">
            <a:avLst>
              <a:gd name="adj" fmla="val 26667"/>
            </a:avLst>
          </a:prstGeom>
          <a:solidFill>
            <a:srgbClr val="00D1B2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239580" y="7620002"/>
            <a:ext cx="4000424" cy="4000424"/>
          </a:xfrm>
          <a:prstGeom prst="roundRect">
            <a:avLst>
              <a:gd name="adj" fmla="val 26191"/>
            </a:avLst>
          </a:prstGeom>
          <a:solidFill>
            <a:srgbClr val="7F56D9">
              <a:alpha val="8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952439" y="952439"/>
            <a:ext cx="18021420" cy="39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spc="488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STRATEGISE · DOCUMENT 02</a:t>
            </a:r>
            <a:endParaRPr lang="en-US" sz="1875" dirty="0"/>
          </a:p>
        </p:txBody>
      </p:sp>
      <p:sp>
        <p:nvSpPr>
          <p:cNvPr id="7" name="Shape 5"/>
          <p:cNvSpPr/>
          <p:nvPr/>
        </p:nvSpPr>
        <p:spPr>
          <a:xfrm>
            <a:off x="952439" y="1502839"/>
            <a:ext cx="1142943" cy="28531"/>
          </a:xfrm>
          <a:prstGeom prst="rect">
            <a:avLst/>
          </a:prstGeom>
          <a:gradFill rotWithShape="1">
            <a:gsLst>
              <a:gs pos="0">
                <a:srgbClr val="00D1B2">
                  <a:alpha val="100000"/>
                </a:srgbClr>
              </a:gs>
              <a:gs pos="100000">
                <a:srgbClr val="6366F1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8" name="Text 6"/>
          <p:cNvSpPr/>
          <p:nvPr/>
        </p:nvSpPr>
        <p:spPr>
          <a:xfrm>
            <a:off x="952439" y="3979881"/>
            <a:ext cx="14668458" cy="10683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584"/>
              </a:lnSpc>
              <a:buNone/>
            </a:pPr>
            <a:r>
              <a:rPr lang="en-US" sz="7800" b="1" spc="-156" kern="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Business Case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952439" y="5352945"/>
            <a:ext cx="11282312" cy="11695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612"/>
              </a:lnSpc>
              <a:buNone/>
            </a:pPr>
            <a:r>
              <a:rPr lang="en-US" sz="3300" dirty="0">
                <a:solidFill>
                  <a:srgbClr val="33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Thirteen sections, and what each one is actually asking you for.</a:t>
            </a:r>
            <a:endParaRPr lang="en-US" sz="33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439" y="8990784"/>
            <a:ext cx="285715" cy="28571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90509" y="8932825"/>
            <a:ext cx="2110520" cy="439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3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Insight-Driven</a:t>
            </a:r>
            <a:endParaRPr lang="en-US" sz="21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90090" y="8990784"/>
            <a:ext cx="285715" cy="28571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28160" y="8932825"/>
            <a:ext cx="2730396" cy="439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3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Solutions</a:t>
            </a:r>
            <a:endParaRPr lang="en-US" sz="21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91265" y="8990784"/>
            <a:ext cx="285715" cy="28571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429334" y="8932825"/>
            <a:ext cx="2203237" cy="439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3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Lasting Impact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439" y="952439"/>
            <a:ext cx="18021420" cy="39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spc="488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52439" y="1502839"/>
            <a:ext cx="18021420" cy="696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478"/>
              </a:lnSpc>
              <a:buNone/>
            </a:pPr>
            <a:r>
              <a:rPr lang="en-US" sz="4800" b="1" spc="-48" kern="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document is for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52439" y="2656461"/>
            <a:ext cx="8382018" cy="6868582"/>
          </a:xfrm>
          <a:prstGeom prst="roundRect">
            <a:avLst>
              <a:gd name="adj" fmla="val 3883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1485802" y="3189823"/>
            <a:ext cx="838153" cy="838153"/>
          </a:xfrm>
          <a:prstGeom prst="roundRect">
            <a:avLst>
              <a:gd name="adj" fmla="val 27274"/>
            </a:avLst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04837" y="3408858"/>
            <a:ext cx="400002" cy="4000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5802" y="4332766"/>
            <a:ext cx="8046822" cy="39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spc="488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1875" dirty="0"/>
          </a:p>
        </p:txBody>
      </p:sp>
      <p:sp>
        <p:nvSpPr>
          <p:cNvPr id="8" name="Text 5"/>
          <p:cNvSpPr/>
          <p:nvPr/>
        </p:nvSpPr>
        <p:spPr>
          <a:xfrm>
            <a:off x="1485802" y="4997533"/>
            <a:ext cx="7534752" cy="163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183"/>
              </a:lnSpc>
              <a:buNone/>
            </a:pPr>
            <a:r>
              <a:rPr lang="en-US" sz="30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investment argument with its assumptions visible and its ranges stated.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9715384" y="2656461"/>
            <a:ext cx="7620165" cy="6868582"/>
          </a:xfrm>
          <a:prstGeom prst="roundRect">
            <a:avLst>
              <a:gd name="adj" fmla="val 3883"/>
            </a:avLst>
          </a:prstGeom>
          <a:gradFill rotWithShape="1">
            <a:gsLst>
              <a:gs pos="0">
                <a:srgbClr val="0C1244">
                  <a:alpha val="100000"/>
                </a:srgbClr>
              </a:gs>
              <a:gs pos="55000">
                <a:srgbClr val="1E2A6B">
                  <a:alpha val="100000"/>
                </a:srgbClr>
              </a:gs>
              <a:gs pos="100000">
                <a:srgbClr val="3B2E7E">
                  <a:alpha val="100000"/>
                </a:srgbClr>
              </a:gs>
            </a:gsLst>
            <a:lin ang="1800000" scaled="0"/>
          </a:gradFill>
          <a:ln/>
        </p:spPr>
      </p:sp>
      <p:sp>
        <p:nvSpPr>
          <p:cNvPr id="10" name="Shape 7"/>
          <p:cNvSpPr/>
          <p:nvPr/>
        </p:nvSpPr>
        <p:spPr>
          <a:xfrm>
            <a:off x="14922986" y="7302984"/>
            <a:ext cx="3079287" cy="3079287"/>
          </a:xfrm>
          <a:prstGeom prst="roundRect">
            <a:avLst>
              <a:gd name="adj" fmla="val 27839"/>
            </a:avLst>
          </a:prstGeom>
          <a:ln w="15651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8747" y="3189823"/>
            <a:ext cx="7208783" cy="39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spc="488" kern="0" dirty="0">
                <a:solidFill>
                  <a:srgbClr val="A98B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IT SERVES</a:t>
            </a:r>
            <a:endParaRPr lang="en-US" sz="1875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48747" y="3969936"/>
            <a:ext cx="285715" cy="28571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724885" y="3870242"/>
            <a:ext cx="930329" cy="5180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</a:t>
            </a:r>
            <a:endParaRPr lang="en-US" sz="27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248747" y="4657854"/>
            <a:ext cx="285715" cy="28571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724885" y="4558160"/>
            <a:ext cx="807566" cy="5180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27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48747" y="5345772"/>
            <a:ext cx="285715" cy="28571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724885" y="5246077"/>
            <a:ext cx="1531677" cy="518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27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48747" y="6033690"/>
            <a:ext cx="285715" cy="28571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0724885" y="5933995"/>
            <a:ext cx="987880" cy="518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Defer</a:t>
            </a:r>
            <a:endParaRPr lang="en-US" sz="27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48747" y="6721608"/>
            <a:ext cx="285715" cy="285715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0724885" y="6621913"/>
            <a:ext cx="1351688" cy="518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Decline</a:t>
            </a:r>
            <a:endParaRPr lang="en-US" sz="2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87" cy="10286978"/>
          </a:xfrm>
          <a:prstGeom prst="rect">
            <a:avLst/>
          </a:prstGeom>
          <a:gradFill rotWithShape="1">
            <a:gsLst>
              <a:gs pos="0">
                <a:srgbClr val="0C1244">
                  <a:alpha val="100000"/>
                </a:srgbClr>
              </a:gs>
              <a:gs pos="55000">
                <a:srgbClr val="1E2A6B">
                  <a:alpha val="100000"/>
                </a:srgbClr>
              </a:gs>
              <a:gs pos="100000">
                <a:srgbClr val="3B2E7E">
                  <a:alpha val="100000"/>
                </a:srgbClr>
              </a:gs>
            </a:gsLst>
            <a:lin ang="18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14256180" y="-952439"/>
            <a:ext cx="4603238" cy="4603238"/>
          </a:xfrm>
          <a:prstGeom prst="roundRect">
            <a:avLst>
              <a:gd name="adj" fmla="val 26900"/>
            </a:avLst>
          </a:prstGeom>
          <a:ln w="15651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192019" y="8191433"/>
            <a:ext cx="3619497" cy="3619497"/>
          </a:xfrm>
          <a:prstGeom prst="roundRect">
            <a:avLst>
              <a:gd name="adj" fmla="val 26316"/>
            </a:avLst>
          </a:prstGeom>
          <a:solidFill>
            <a:srgbClr val="00D1B2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52439" y="3359704"/>
            <a:ext cx="1066725" cy="1066725"/>
          </a:xfrm>
          <a:prstGeom prst="roundRect">
            <a:avLst>
              <a:gd name="adj" fmla="val 25002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8155" y="3645419"/>
            <a:ext cx="495294" cy="49529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52439" y="4807355"/>
            <a:ext cx="18021420" cy="39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spc="488" kern="0" dirty="0">
                <a:solidFill>
                  <a:srgbClr val="A98B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ONE · SECTIONS 1–3</a:t>
            </a:r>
            <a:endParaRPr lang="en-US" sz="1875" dirty="0"/>
          </a:p>
        </p:txBody>
      </p:sp>
      <p:sp>
        <p:nvSpPr>
          <p:cNvPr id="8" name="Text 5"/>
          <p:cNvSpPr/>
          <p:nvPr/>
        </p:nvSpPr>
        <p:spPr>
          <a:xfrm>
            <a:off x="952439" y="5548259"/>
            <a:ext cx="18021420" cy="9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106"/>
              </a:lnSpc>
              <a:buNone/>
            </a:pPr>
            <a:r>
              <a:rPr lang="en-US" sz="7200" b="1" spc="-14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 the ask</a:t>
            </a:r>
            <a:endParaRPr lang="en-US" sz="7200" dirty="0"/>
          </a:p>
        </p:txBody>
      </p:sp>
      <p:sp>
        <p:nvSpPr>
          <p:cNvPr id="9" name="Shape 6"/>
          <p:cNvSpPr/>
          <p:nvPr/>
        </p:nvSpPr>
        <p:spPr>
          <a:xfrm>
            <a:off x="952439" y="6889206"/>
            <a:ext cx="1714456" cy="38068"/>
          </a:xfrm>
          <a:prstGeom prst="rect">
            <a:avLst/>
          </a:prstGeom>
          <a:gradFill rotWithShape="1">
            <a:gsLst>
              <a:gs pos="0">
                <a:srgbClr val="00D1B2">
                  <a:alpha val="100000"/>
                </a:srgbClr>
              </a:gs>
              <a:gs pos="100000">
                <a:srgbClr val="6366F1">
                  <a:alpha val="100000"/>
                </a:srgbClr>
              </a:gs>
            </a:gsLst>
            <a:lin ang="0" scaled="0"/>
          </a:gra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439" y="952439"/>
            <a:ext cx="5736073" cy="39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spc="488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52439" y="1464770"/>
            <a:ext cx="5736073" cy="696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478"/>
              </a:lnSpc>
              <a:buNone/>
            </a:pPr>
            <a:r>
              <a:rPr lang="en-US" sz="4800" b="1" spc="-48" kern="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16421178" y="1208727"/>
            <a:ext cx="914371" cy="914371"/>
          </a:xfrm>
          <a:prstGeom prst="roundRect">
            <a:avLst>
              <a:gd name="adj" fmla="val 27084"/>
            </a:avLst>
          </a:prstGeom>
          <a:solidFill>
            <a:srgbClr val="EDFBF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68824" y="1456374"/>
            <a:ext cx="419076" cy="4190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439" y="2542174"/>
            <a:ext cx="16383109" cy="6982869"/>
          </a:xfrm>
          <a:prstGeom prst="roundRect">
            <a:avLst>
              <a:gd name="adj" fmla="val 3819"/>
            </a:avLst>
          </a:prstGeom>
          <a:solidFill>
            <a:srgbClr val="FFFFFF"/>
          </a:solidFill>
          <a:ln w="5217">
            <a:solidFill>
              <a:srgbClr val="ECEFF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7656" y="2547391"/>
            <a:ext cx="5457531" cy="3652185"/>
          </a:xfrm>
          <a:prstGeom prst="rect">
            <a:avLst/>
          </a:prstGeom>
          <a:solidFill>
            <a:srgbClr val="FAFBFE"/>
          </a:solidFill>
          <a:ln/>
        </p:spPr>
      </p:sp>
      <p:sp>
        <p:nvSpPr>
          <p:cNvPr id="8" name="Shape 5"/>
          <p:cNvSpPr/>
          <p:nvPr/>
        </p:nvSpPr>
        <p:spPr>
          <a:xfrm>
            <a:off x="957656" y="6194359"/>
            <a:ext cx="5457531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9" name="Shape 6"/>
          <p:cNvSpPr/>
          <p:nvPr/>
        </p:nvSpPr>
        <p:spPr>
          <a:xfrm>
            <a:off x="6409971" y="2547391"/>
            <a:ext cx="9525" cy="365218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0" name="Text 7"/>
          <p:cNvSpPr/>
          <p:nvPr/>
        </p:nvSpPr>
        <p:spPr>
          <a:xfrm>
            <a:off x="1376733" y="2966468"/>
            <a:ext cx="5075578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88" kern="0" dirty="0">
                <a:solidFill>
                  <a:srgbClr val="00B4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376733" y="3417743"/>
            <a:ext cx="4752586" cy="891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79"/>
              </a:lnSpc>
              <a:buNone/>
            </a:pPr>
            <a:r>
              <a:rPr lang="en-US" sz="24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much, over what period, from whose budget.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6415187" y="6194359"/>
            <a:ext cx="5457531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3" name="Shape 10"/>
          <p:cNvSpPr/>
          <p:nvPr/>
        </p:nvSpPr>
        <p:spPr>
          <a:xfrm>
            <a:off x="11867502" y="2547391"/>
            <a:ext cx="9525" cy="365218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4" name="Text 11"/>
          <p:cNvSpPr/>
          <p:nvPr/>
        </p:nvSpPr>
        <p:spPr>
          <a:xfrm>
            <a:off x="6834264" y="2966468"/>
            <a:ext cx="5075578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88" kern="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RETURN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834264" y="3417743"/>
            <a:ext cx="4752586" cy="891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79"/>
              </a:lnSpc>
              <a:buNone/>
            </a:pPr>
            <a:r>
              <a:rPr lang="en-US" sz="24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value, its payback period and the range around it.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11872718" y="6194359"/>
            <a:ext cx="5457613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7" name="Text 14"/>
          <p:cNvSpPr/>
          <p:nvPr/>
        </p:nvSpPr>
        <p:spPr>
          <a:xfrm>
            <a:off x="12291795" y="2966468"/>
            <a:ext cx="5081406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88" kern="0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RECOMMENDATION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2291795" y="3417743"/>
            <a:ext cx="4758044" cy="891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79"/>
              </a:lnSpc>
              <a:buNone/>
            </a:pPr>
            <a:r>
              <a:rPr lang="en-US" sz="24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the five decisions, named outright.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1867502" y="6199576"/>
            <a:ext cx="9525" cy="3320250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20" name="Text 17"/>
          <p:cNvSpPr/>
          <p:nvPr/>
        </p:nvSpPr>
        <p:spPr>
          <a:xfrm>
            <a:off x="1376733" y="6618652"/>
            <a:ext cx="11078861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88" kern="0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RESTS ON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376733" y="7069928"/>
            <a:ext cx="10373843" cy="891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79"/>
              </a:lnSpc>
              <a:buNone/>
            </a:pPr>
            <a:r>
              <a:rPr lang="en-US" sz="24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or three assumptions the return depends on, each with its range.</a:t>
            </a:r>
            <a:endParaRPr lang="en-US" sz="2400" dirty="0"/>
          </a:p>
        </p:txBody>
      </p:sp>
      <p:sp>
        <p:nvSpPr>
          <p:cNvPr id="22" name="Shape 19"/>
          <p:cNvSpPr/>
          <p:nvPr/>
        </p:nvSpPr>
        <p:spPr>
          <a:xfrm>
            <a:off x="11872718" y="6199576"/>
            <a:ext cx="5457613" cy="3320250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23" name="Text 20"/>
          <p:cNvSpPr/>
          <p:nvPr/>
        </p:nvSpPr>
        <p:spPr>
          <a:xfrm>
            <a:off x="12291795" y="6618652"/>
            <a:ext cx="5081406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88" kern="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291795" y="7069928"/>
            <a:ext cx="4758044" cy="891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79"/>
              </a:lnSpc>
              <a:buNone/>
            </a:pPr>
            <a:r>
              <a:rPr lang="en-US" sz="24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Sponsor, forum and the date the decision is needed by.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39" y="952439"/>
            <a:ext cx="914371" cy="914371"/>
          </a:xfrm>
          <a:prstGeom prst="roundRect">
            <a:avLst>
              <a:gd name="adj" fmla="val 27084"/>
            </a:avLst>
          </a:prstGeom>
          <a:solidFill>
            <a:srgbClr val="F1F1F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0086" y="1200086"/>
            <a:ext cx="419076" cy="41907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439" y="2171600"/>
            <a:ext cx="8182490" cy="696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478"/>
              </a:lnSpc>
              <a:buNone/>
            </a:pPr>
            <a:r>
              <a:rPr lang="en-US" sz="4800" b="1" spc="-48" kern="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952439" y="3134718"/>
            <a:ext cx="7661786" cy="9771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773"/>
              </a:lnSpc>
              <a:buNone/>
            </a:pPr>
            <a:r>
              <a:rPr lang="en-US" sz="2550" dirty="0">
                <a:solidFill>
                  <a:srgbClr val="33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being proposed now, and what evidence triggered it.</a:t>
            </a:r>
            <a:endParaRPr lang="en-US" sz="25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53001" y="3440323"/>
            <a:ext cx="304790" cy="30479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48215" y="3425814"/>
            <a:ext cx="1891191" cy="371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315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2250" dirty="0"/>
          </a:p>
        </p:txBody>
      </p:sp>
      <p:sp>
        <p:nvSpPr>
          <p:cNvPr id="8" name="Text 4"/>
          <p:cNvSpPr/>
          <p:nvPr/>
        </p:nvSpPr>
        <p:spPr>
          <a:xfrm>
            <a:off x="9153001" y="3892985"/>
            <a:ext cx="8428023" cy="998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690"/>
              </a:lnSpc>
              <a:buNone/>
            </a:pPr>
            <a:r>
              <a:rPr lang="en-US" sz="27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change in conditions that makes waiting more expensive than acting.</a:t>
            </a:r>
            <a:endParaRPr lang="en-US" sz="2700" dirty="0"/>
          </a:p>
        </p:txBody>
      </p:sp>
      <p:sp>
        <p:nvSpPr>
          <p:cNvPr id="9" name="Shape 5"/>
          <p:cNvSpPr/>
          <p:nvPr/>
        </p:nvSpPr>
        <p:spPr>
          <a:xfrm>
            <a:off x="9153001" y="5234013"/>
            <a:ext cx="8182547" cy="9525"/>
          </a:xfrm>
          <a:prstGeom prst="rect">
            <a:avLst/>
          </a:prstGeom>
          <a:solidFill>
            <a:srgbClr val="ECEFF7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53001" y="5638906"/>
            <a:ext cx="304790" cy="30479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48215" y="5624396"/>
            <a:ext cx="2626291" cy="371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315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TRIGGER</a:t>
            </a:r>
            <a:endParaRPr lang="en-US" sz="2250" dirty="0"/>
          </a:p>
        </p:txBody>
      </p:sp>
      <p:sp>
        <p:nvSpPr>
          <p:cNvPr id="12" name="Text 7"/>
          <p:cNvSpPr/>
          <p:nvPr/>
        </p:nvSpPr>
        <p:spPr>
          <a:xfrm>
            <a:off x="9153001" y="6091567"/>
            <a:ext cx="8428023" cy="998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690"/>
              </a:lnSpc>
              <a:buNone/>
            </a:pPr>
            <a:r>
              <a:rPr lang="en-US" sz="27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specific data, incident, audit or customer signal that started this. Cite it.</a:t>
            </a:r>
            <a:endParaRPr lang="en-US" sz="2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439" y="952439"/>
            <a:ext cx="9860002" cy="696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478"/>
              </a:lnSpc>
              <a:buNone/>
            </a:pPr>
            <a:r>
              <a:rPr lang="en-US" sz="4800" b="1" spc="-48" kern="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52439" y="1763121"/>
            <a:ext cx="9860002" cy="4914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402"/>
              </a:lnSpc>
              <a:buNone/>
            </a:pPr>
            <a:r>
              <a:rPr lang="en-US" sz="2550" dirty="0">
                <a:solidFill>
                  <a:srgbClr val="33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investment covers, and what it deliberately does not.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16421178" y="1416431"/>
            <a:ext cx="914371" cy="914371"/>
          </a:xfrm>
          <a:prstGeom prst="roundRect">
            <a:avLst>
              <a:gd name="adj" fmla="val 27084"/>
            </a:avLst>
          </a:prstGeom>
          <a:solidFill>
            <a:srgbClr val="F5F1F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68824" y="1664078"/>
            <a:ext cx="419076" cy="4190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439" y="2787947"/>
            <a:ext cx="8001091" cy="6737096"/>
          </a:xfrm>
          <a:prstGeom prst="roundRect">
            <a:avLst>
              <a:gd name="adj" fmla="val 2828"/>
            </a:avLst>
          </a:prstGeom>
          <a:solidFill>
            <a:srgbClr val="EDFBF8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09584" y="3245091"/>
            <a:ext cx="323784" cy="3237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942865" y="3263514"/>
            <a:ext cx="173750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90" kern="0" dirty="0">
                <a:solidFill>
                  <a:srgbClr val="00B4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SCOPE</a:t>
            </a:r>
            <a:endParaRPr lang="en-US" sz="1950" dirty="0"/>
          </a:p>
        </p:txBody>
      </p:sp>
      <p:sp>
        <p:nvSpPr>
          <p:cNvPr id="9" name="Text 5"/>
          <p:cNvSpPr/>
          <p:nvPr/>
        </p:nvSpPr>
        <p:spPr>
          <a:xfrm>
            <a:off x="1409584" y="3835516"/>
            <a:ext cx="7299406" cy="14467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773"/>
              </a:lnSpc>
              <a:buNone/>
            </a:pPr>
            <a:r>
              <a:rPr lang="en-US" sz="255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Systems, teams, geographies and processes this investment is accountable for.</a:t>
            </a:r>
            <a:endParaRPr lang="en-US" sz="2550" dirty="0"/>
          </a:p>
        </p:txBody>
      </p:sp>
      <p:sp>
        <p:nvSpPr>
          <p:cNvPr id="10" name="Shape 6"/>
          <p:cNvSpPr/>
          <p:nvPr/>
        </p:nvSpPr>
        <p:spPr>
          <a:xfrm>
            <a:off x="9334457" y="2787947"/>
            <a:ext cx="8001091" cy="6737096"/>
          </a:xfrm>
          <a:prstGeom prst="roundRect">
            <a:avLst>
              <a:gd name="adj" fmla="val 2828"/>
            </a:avLst>
          </a:prstGeom>
          <a:solidFill>
            <a:srgbClr val="F4F6FC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91602" y="3245091"/>
            <a:ext cx="323784" cy="32378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324883" y="3263514"/>
            <a:ext cx="2706903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90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OF SCOPE</a:t>
            </a:r>
            <a:endParaRPr lang="en-US" sz="1950" dirty="0"/>
          </a:p>
        </p:txBody>
      </p:sp>
      <p:sp>
        <p:nvSpPr>
          <p:cNvPr id="13" name="Text 8"/>
          <p:cNvSpPr/>
          <p:nvPr/>
        </p:nvSpPr>
        <p:spPr>
          <a:xfrm>
            <a:off x="9791602" y="3835516"/>
            <a:ext cx="7299406" cy="9771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773"/>
              </a:lnSpc>
              <a:buNone/>
            </a:pPr>
            <a:r>
              <a:rPr lang="en-US" sz="255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adjacent work people will assume is included. Name it here, not in month four.</a:t>
            </a:r>
            <a:endParaRPr lang="en-US" sz="2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87" cy="10286978"/>
          </a:xfrm>
          <a:prstGeom prst="rect">
            <a:avLst/>
          </a:prstGeom>
          <a:gradFill rotWithShape="1">
            <a:gsLst>
              <a:gs pos="0">
                <a:srgbClr val="0C1244">
                  <a:alpha val="100000"/>
                </a:srgbClr>
              </a:gs>
              <a:gs pos="55000">
                <a:srgbClr val="1E2A6B">
                  <a:alpha val="100000"/>
                </a:srgbClr>
              </a:gs>
              <a:gs pos="100000">
                <a:srgbClr val="3B2E7E">
                  <a:alpha val="100000"/>
                </a:srgbClr>
              </a:gs>
            </a:gsLst>
            <a:lin ang="18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14256180" y="-952439"/>
            <a:ext cx="4603238" cy="4603238"/>
          </a:xfrm>
          <a:prstGeom prst="roundRect">
            <a:avLst>
              <a:gd name="adj" fmla="val 26900"/>
            </a:avLst>
          </a:prstGeom>
          <a:ln w="15651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192019" y="8191433"/>
            <a:ext cx="3619497" cy="3619497"/>
          </a:xfrm>
          <a:prstGeom prst="roundRect">
            <a:avLst>
              <a:gd name="adj" fmla="val 26316"/>
            </a:avLst>
          </a:prstGeom>
          <a:solidFill>
            <a:srgbClr val="6366F1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52439" y="3359704"/>
            <a:ext cx="1066725" cy="1066725"/>
          </a:xfrm>
          <a:prstGeom prst="roundRect">
            <a:avLst>
              <a:gd name="adj" fmla="val 25002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8155" y="3645419"/>
            <a:ext cx="495294" cy="49529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52439" y="4807355"/>
            <a:ext cx="18021420" cy="39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spc="488" kern="0" dirty="0">
                <a:solidFill>
                  <a:srgbClr val="A98B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TWO · SECTIONS 4–6</a:t>
            </a:r>
            <a:endParaRPr lang="en-US" sz="1875" dirty="0"/>
          </a:p>
        </p:txBody>
      </p:sp>
      <p:sp>
        <p:nvSpPr>
          <p:cNvPr id="8" name="Text 5"/>
          <p:cNvSpPr/>
          <p:nvPr/>
        </p:nvSpPr>
        <p:spPr>
          <a:xfrm>
            <a:off x="952439" y="5548259"/>
            <a:ext cx="18021420" cy="9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106"/>
              </a:lnSpc>
              <a:buNone/>
            </a:pPr>
            <a:r>
              <a:rPr lang="en-US" sz="7200" b="1" spc="-14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out the choice</a:t>
            </a:r>
            <a:endParaRPr lang="en-US" sz="7200" dirty="0"/>
          </a:p>
        </p:txBody>
      </p:sp>
      <p:sp>
        <p:nvSpPr>
          <p:cNvPr id="9" name="Shape 6"/>
          <p:cNvSpPr/>
          <p:nvPr/>
        </p:nvSpPr>
        <p:spPr>
          <a:xfrm>
            <a:off x="952439" y="6889206"/>
            <a:ext cx="1714456" cy="38068"/>
          </a:xfrm>
          <a:prstGeom prst="rect">
            <a:avLst/>
          </a:prstGeom>
          <a:gradFill rotWithShape="1">
            <a:gsLst>
              <a:gs pos="0">
                <a:srgbClr val="00D1B2">
                  <a:alpha val="100000"/>
                </a:srgbClr>
              </a:gs>
              <a:gs pos="100000">
                <a:srgbClr val="6366F1">
                  <a:alpha val="100000"/>
                </a:srgbClr>
              </a:gs>
            </a:gsLst>
            <a:lin ang="0" scaled="0"/>
          </a:gra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439" y="952439"/>
            <a:ext cx="6929826" cy="696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478"/>
              </a:lnSpc>
              <a:buNone/>
            </a:pPr>
            <a:r>
              <a:rPr lang="en-US" sz="4800" b="1" spc="-48" kern="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52439" y="1763121"/>
            <a:ext cx="6929826" cy="4914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402"/>
              </a:lnSpc>
              <a:buNone/>
            </a:pPr>
            <a:r>
              <a:rPr lang="en-US" sz="2550" dirty="0">
                <a:solidFill>
                  <a:srgbClr val="33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being built or bought, in plain terms.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16421178" y="1416431"/>
            <a:ext cx="914371" cy="914371"/>
          </a:xfrm>
          <a:prstGeom prst="roundRect">
            <a:avLst>
              <a:gd name="adj" fmla="val 27084"/>
            </a:avLst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68824" y="1664078"/>
            <a:ext cx="419076" cy="4190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439" y="2749878"/>
            <a:ext cx="4876889" cy="6775164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5217">
            <a:solidFill>
              <a:srgbClr val="ECEFF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76733" y="3174172"/>
            <a:ext cx="761935" cy="761935"/>
          </a:xfrm>
          <a:prstGeom prst="roundRect">
            <a:avLst>
              <a:gd name="adj" fmla="val 27502"/>
            </a:avLst>
          </a:prstGeom>
          <a:solidFill>
            <a:srgbClr val="EDFBF8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6693" y="3374132"/>
            <a:ext cx="361933" cy="36193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6733" y="4164679"/>
            <a:ext cx="4431132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88" kern="0" dirty="0">
                <a:solidFill>
                  <a:srgbClr val="00B4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376733" y="4654105"/>
            <a:ext cx="4431132" cy="46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45"/>
              </a:lnSpc>
              <a:buNone/>
            </a:pPr>
            <a:r>
              <a:rPr lang="en-US" sz="2700" b="1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exists at the end</a:t>
            </a:r>
            <a:endParaRPr lang="en-US" sz="2700" dirty="0"/>
          </a:p>
        </p:txBody>
      </p:sp>
      <p:sp>
        <p:nvSpPr>
          <p:cNvPr id="11" name="Text 7"/>
          <p:cNvSpPr/>
          <p:nvPr/>
        </p:nvSpPr>
        <p:spPr>
          <a:xfrm>
            <a:off x="1376733" y="5311291"/>
            <a:ext cx="4149151" cy="12381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814"/>
              </a:lnSpc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Described as something the business can do, not as a system name.</a:t>
            </a:r>
            <a:endParaRPr lang="en-US" sz="22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5969" y="5966031"/>
            <a:ext cx="342859" cy="342859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705468" y="2749878"/>
            <a:ext cx="4876970" cy="6775164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5217">
            <a:solidFill>
              <a:srgbClr val="ECEFF7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7129761" y="3174172"/>
            <a:ext cx="761935" cy="761935"/>
          </a:xfrm>
          <a:prstGeom prst="roundRect">
            <a:avLst>
              <a:gd name="adj" fmla="val 27502"/>
            </a:avLst>
          </a:prstGeom>
          <a:solidFill>
            <a:srgbClr val="F1F1FE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29721" y="3374132"/>
            <a:ext cx="361933" cy="36193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29761" y="4164679"/>
            <a:ext cx="4431222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88" kern="0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7129761" y="4654105"/>
            <a:ext cx="4431222" cy="46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45"/>
              </a:lnSpc>
              <a:buNone/>
            </a:pPr>
            <a:r>
              <a:rPr lang="en-US" sz="2700" b="1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Build, buy or partner</a:t>
            </a:r>
            <a:endParaRPr lang="en-US" sz="2700" dirty="0"/>
          </a:p>
        </p:txBody>
      </p:sp>
      <p:sp>
        <p:nvSpPr>
          <p:cNvPr id="18" name="Text 12"/>
          <p:cNvSpPr/>
          <p:nvPr/>
        </p:nvSpPr>
        <p:spPr>
          <a:xfrm>
            <a:off x="7129761" y="5311291"/>
            <a:ext cx="4149235" cy="12381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814"/>
              </a:lnSpc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the route and the one reason it beat the others.</a:t>
            </a:r>
            <a:endParaRPr lang="en-US" sz="22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849079" y="5966031"/>
            <a:ext cx="342859" cy="342859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12458578" y="2749878"/>
            <a:ext cx="4876970" cy="6775164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5217">
            <a:solidFill>
              <a:srgbClr val="ECEFF7"/>
            </a:solidFill>
            <a:prstDash val="solid"/>
          </a:ln>
        </p:spPr>
      </p:sp>
      <p:sp>
        <p:nvSpPr>
          <p:cNvPr id="21" name="Shape 14"/>
          <p:cNvSpPr/>
          <p:nvPr/>
        </p:nvSpPr>
        <p:spPr>
          <a:xfrm>
            <a:off x="12882872" y="3174172"/>
            <a:ext cx="761935" cy="761935"/>
          </a:xfrm>
          <a:prstGeom prst="roundRect">
            <a:avLst>
              <a:gd name="adj" fmla="val 27502"/>
            </a:avLst>
          </a:prstGeom>
          <a:solidFill>
            <a:srgbClr val="F5F1FE"/>
          </a:solidFill>
          <a:ln/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082832" y="3374132"/>
            <a:ext cx="361933" cy="361933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2882872" y="4164679"/>
            <a:ext cx="4431222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88" kern="0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PRECONDITIONS</a:t>
            </a:r>
            <a:endParaRPr lang="en-US" sz="1800" dirty="0"/>
          </a:p>
        </p:txBody>
      </p:sp>
      <p:sp>
        <p:nvSpPr>
          <p:cNvPr id="24" name="Text 16"/>
          <p:cNvSpPr/>
          <p:nvPr/>
        </p:nvSpPr>
        <p:spPr>
          <a:xfrm>
            <a:off x="12882872" y="4654105"/>
            <a:ext cx="4431222" cy="46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45"/>
              </a:lnSpc>
              <a:buNone/>
            </a:pPr>
            <a:r>
              <a:rPr lang="en-US" sz="2700" b="1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has to be true</a:t>
            </a:r>
            <a:endParaRPr lang="en-US" sz="2700" dirty="0"/>
          </a:p>
        </p:txBody>
      </p:sp>
      <p:sp>
        <p:nvSpPr>
          <p:cNvPr id="25" name="Text 17"/>
          <p:cNvSpPr/>
          <p:nvPr/>
        </p:nvSpPr>
        <p:spPr>
          <a:xfrm>
            <a:off x="12882872" y="5311291"/>
            <a:ext cx="4149235" cy="12381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814"/>
              </a:lnSpc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access, dependencies and the teams whose time is assumed.</a:t>
            </a:r>
            <a:endParaRPr lang="en-US" sz="2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439" y="952439"/>
            <a:ext cx="10732115" cy="696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478"/>
              </a:lnSpc>
              <a:buNone/>
            </a:pPr>
            <a:r>
              <a:rPr lang="en-US" sz="4800" b="1" spc="-48" kern="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options considered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52439" y="1763121"/>
            <a:ext cx="10732115" cy="4914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402"/>
              </a:lnSpc>
              <a:buNone/>
            </a:pPr>
            <a:r>
              <a:rPr lang="en-US" sz="2550" dirty="0">
                <a:solidFill>
                  <a:srgbClr val="33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else was on the table, and why it lost to the proposed solution.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16421178" y="1416431"/>
            <a:ext cx="914371" cy="914371"/>
          </a:xfrm>
          <a:prstGeom prst="roundRect">
            <a:avLst>
              <a:gd name="adj" fmla="val 27084"/>
            </a:avLst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68824" y="1664078"/>
            <a:ext cx="419076" cy="4190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439" y="2749878"/>
            <a:ext cx="16383109" cy="6775164"/>
          </a:xfrm>
          <a:prstGeom prst="roundRect">
            <a:avLst>
              <a:gd name="adj" fmla="val 2812"/>
            </a:avLst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1409584" y="4404256"/>
            <a:ext cx="15468820" cy="15651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8" name="Text 5"/>
          <p:cNvSpPr/>
          <p:nvPr/>
        </p:nvSpPr>
        <p:spPr>
          <a:xfrm>
            <a:off x="1409584" y="3850677"/>
            <a:ext cx="3781935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5190565" y="3850677"/>
            <a:ext cx="3781935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</a:t>
            </a:r>
            <a:endParaRPr lang="en-US" sz="1950" dirty="0"/>
          </a:p>
        </p:txBody>
      </p:sp>
      <p:sp>
        <p:nvSpPr>
          <p:cNvPr id="10" name="Text 7"/>
          <p:cNvSpPr/>
          <p:nvPr/>
        </p:nvSpPr>
        <p:spPr>
          <a:xfrm>
            <a:off x="8971545" y="3850677"/>
            <a:ext cx="3782024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12752608" y="3850677"/>
            <a:ext cx="4538375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CHOSEN</a:t>
            </a:r>
            <a:endParaRPr lang="en-US" sz="1950" dirty="0"/>
          </a:p>
        </p:txBody>
      </p:sp>
      <p:sp>
        <p:nvSpPr>
          <p:cNvPr id="12" name="Shape 9"/>
          <p:cNvSpPr/>
          <p:nvPr/>
        </p:nvSpPr>
        <p:spPr>
          <a:xfrm>
            <a:off x="1409584" y="5885086"/>
            <a:ext cx="15468820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3" name="Text 10"/>
          <p:cNvSpPr/>
          <p:nvPr/>
        </p:nvSpPr>
        <p:spPr>
          <a:xfrm>
            <a:off x="1409584" y="4724698"/>
            <a:ext cx="3541266" cy="8936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nothing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5190565" y="4724698"/>
            <a:ext cx="3541266" cy="8936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spend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8971545" y="4724698"/>
            <a:ext cx="3541350" cy="8936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the problem continues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12752608" y="4724698"/>
            <a:ext cx="4249570" cy="8936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Quantify what it costs to wait a year</a:t>
            </a:r>
            <a:endParaRPr lang="en-US" sz="2250" dirty="0"/>
          </a:p>
        </p:txBody>
      </p:sp>
      <p:sp>
        <p:nvSpPr>
          <p:cNvPr id="17" name="Shape 14"/>
          <p:cNvSpPr/>
          <p:nvPr/>
        </p:nvSpPr>
        <p:spPr>
          <a:xfrm>
            <a:off x="1409584" y="6953767"/>
            <a:ext cx="15468820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8" name="Text 15"/>
          <p:cNvSpPr/>
          <p:nvPr/>
        </p:nvSpPr>
        <p:spPr>
          <a:xfrm>
            <a:off x="1409584" y="6195093"/>
            <a:ext cx="3781935" cy="491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 variant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5190565" y="6195093"/>
            <a:ext cx="3781935" cy="491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ask</a:t>
            </a:r>
            <a:endParaRPr lang="en-US" sz="2250" dirty="0"/>
          </a:p>
        </p:txBody>
      </p:sp>
      <p:sp>
        <p:nvSpPr>
          <p:cNvPr id="20" name="Text 17"/>
          <p:cNvSpPr/>
          <p:nvPr/>
        </p:nvSpPr>
        <p:spPr>
          <a:xfrm>
            <a:off x="8971545" y="6195093"/>
            <a:ext cx="3782024" cy="491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 coverage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2752608" y="6195093"/>
            <a:ext cx="4538375" cy="491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the benefit it forfeits</a:t>
            </a:r>
            <a:endParaRPr lang="en-US" sz="2250" dirty="0"/>
          </a:p>
        </p:txBody>
      </p:sp>
      <p:sp>
        <p:nvSpPr>
          <p:cNvPr id="22" name="Text 19"/>
          <p:cNvSpPr/>
          <p:nvPr/>
        </p:nvSpPr>
        <p:spPr>
          <a:xfrm>
            <a:off x="1409584" y="7263775"/>
            <a:ext cx="3541266" cy="8936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variant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5190565" y="7263775"/>
            <a:ext cx="3541266" cy="8936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Wider reach</a:t>
            </a:r>
            <a:endParaRPr lang="en-US" sz="2250" dirty="0"/>
          </a:p>
        </p:txBody>
      </p:sp>
      <p:sp>
        <p:nvSpPr>
          <p:cNvPr id="24" name="Text 21"/>
          <p:cNvSpPr/>
          <p:nvPr/>
        </p:nvSpPr>
        <p:spPr>
          <a:xfrm>
            <a:off x="8971545" y="7263775"/>
            <a:ext cx="3541350" cy="8936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 payback</a:t>
            </a:r>
            <a:endParaRPr lang="en-US" sz="2250" dirty="0"/>
          </a:p>
        </p:txBody>
      </p:sp>
      <p:sp>
        <p:nvSpPr>
          <p:cNvPr id="25" name="Text 22"/>
          <p:cNvSpPr/>
          <p:nvPr/>
        </p:nvSpPr>
        <p:spPr>
          <a:xfrm>
            <a:off x="12752608" y="7263775"/>
            <a:ext cx="4249570" cy="8936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where the return stops improving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439" y="952439"/>
            <a:ext cx="8752421" cy="696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478"/>
              </a:lnSpc>
              <a:buNone/>
            </a:pPr>
            <a:r>
              <a:rPr lang="en-US" sz="4800" b="1" spc="-48" kern="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Timeframe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52439" y="1763121"/>
            <a:ext cx="8752421" cy="4914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402"/>
              </a:lnSpc>
              <a:buNone/>
            </a:pPr>
            <a:r>
              <a:rPr lang="en-US" sz="2550" dirty="0">
                <a:solidFill>
                  <a:srgbClr val="33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phases this runs through, and who owns each one.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16421178" y="1416431"/>
            <a:ext cx="914371" cy="914371"/>
          </a:xfrm>
          <a:prstGeom prst="roundRect">
            <a:avLst>
              <a:gd name="adj" fmla="val 27084"/>
            </a:avLst>
          </a:prstGeom>
          <a:solidFill>
            <a:srgbClr val="F1F1F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68824" y="1664078"/>
            <a:ext cx="419076" cy="4190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52439" y="3590395"/>
            <a:ext cx="3771892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· OWNER</a:t>
            </a:r>
            <a:endParaRPr lang="en-US" sz="1950" dirty="0"/>
          </a:p>
        </p:txBody>
      </p:sp>
      <p:sp>
        <p:nvSpPr>
          <p:cNvPr id="7" name="Shape 4"/>
          <p:cNvSpPr/>
          <p:nvPr/>
        </p:nvSpPr>
        <p:spPr>
          <a:xfrm>
            <a:off x="4381432" y="3173275"/>
            <a:ext cx="9525" cy="439211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8" name="Text 5"/>
          <p:cNvSpPr/>
          <p:nvPr/>
        </p:nvSpPr>
        <p:spPr>
          <a:xfrm>
            <a:off x="4338071" y="3249475"/>
            <a:ext cx="3330426" cy="3249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950" dirty="0"/>
          </a:p>
        </p:txBody>
      </p:sp>
      <p:sp>
        <p:nvSpPr>
          <p:cNvPr id="9" name="Shape 6"/>
          <p:cNvSpPr/>
          <p:nvPr/>
        </p:nvSpPr>
        <p:spPr>
          <a:xfrm>
            <a:off x="7619920" y="3173275"/>
            <a:ext cx="9525" cy="439211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0" name="Text 7"/>
          <p:cNvSpPr/>
          <p:nvPr/>
        </p:nvSpPr>
        <p:spPr>
          <a:xfrm>
            <a:off x="7576560" y="3249475"/>
            <a:ext cx="3330426" cy="3249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950" dirty="0"/>
          </a:p>
        </p:txBody>
      </p:sp>
      <p:sp>
        <p:nvSpPr>
          <p:cNvPr id="11" name="Shape 8"/>
          <p:cNvSpPr/>
          <p:nvPr/>
        </p:nvSpPr>
        <p:spPr>
          <a:xfrm>
            <a:off x="10858408" y="3173275"/>
            <a:ext cx="9525" cy="439211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2" name="Text 9"/>
          <p:cNvSpPr/>
          <p:nvPr/>
        </p:nvSpPr>
        <p:spPr>
          <a:xfrm>
            <a:off x="10815047" y="3249475"/>
            <a:ext cx="3330510" cy="3249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950" dirty="0"/>
          </a:p>
        </p:txBody>
      </p:sp>
      <p:sp>
        <p:nvSpPr>
          <p:cNvPr id="13" name="Shape 10"/>
          <p:cNvSpPr/>
          <p:nvPr/>
        </p:nvSpPr>
        <p:spPr>
          <a:xfrm>
            <a:off x="14096979" y="3173275"/>
            <a:ext cx="9525" cy="439211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4" name="Text 11"/>
          <p:cNvSpPr/>
          <p:nvPr/>
        </p:nvSpPr>
        <p:spPr>
          <a:xfrm>
            <a:off x="14053619" y="3249475"/>
            <a:ext cx="3330426" cy="3249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1950" dirty="0"/>
          </a:p>
        </p:txBody>
      </p:sp>
      <p:sp>
        <p:nvSpPr>
          <p:cNvPr id="15" name="Shape 12"/>
          <p:cNvSpPr/>
          <p:nvPr/>
        </p:nvSpPr>
        <p:spPr>
          <a:xfrm>
            <a:off x="4381432" y="3841059"/>
            <a:ext cx="9525" cy="45339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6" name="Text 13"/>
          <p:cNvSpPr/>
          <p:nvPr/>
        </p:nvSpPr>
        <p:spPr>
          <a:xfrm>
            <a:off x="4348549" y="3898209"/>
            <a:ext cx="1150425" cy="377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E9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422774" y="3898209"/>
            <a:ext cx="1155723" cy="377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E9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502297" y="3898209"/>
            <a:ext cx="1155723" cy="377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E9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619920" y="3841059"/>
            <a:ext cx="9525" cy="45339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20" name="Text 17"/>
          <p:cNvSpPr/>
          <p:nvPr/>
        </p:nvSpPr>
        <p:spPr>
          <a:xfrm>
            <a:off x="7587037" y="3898209"/>
            <a:ext cx="1150506" cy="377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E9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661343" y="3898209"/>
            <a:ext cx="1155723" cy="377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E9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9740867" y="3898209"/>
            <a:ext cx="1155642" cy="377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E9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0858408" y="3841059"/>
            <a:ext cx="9525" cy="45339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24" name="Text 21"/>
          <p:cNvSpPr/>
          <p:nvPr/>
        </p:nvSpPr>
        <p:spPr>
          <a:xfrm>
            <a:off x="10825525" y="3898209"/>
            <a:ext cx="1150506" cy="377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E9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11899832" y="3898209"/>
            <a:ext cx="1155723" cy="377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E9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2979355" y="3898209"/>
            <a:ext cx="1155723" cy="377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E9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14096979" y="3841059"/>
            <a:ext cx="9525" cy="45339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28" name="Text 25"/>
          <p:cNvSpPr/>
          <p:nvPr/>
        </p:nvSpPr>
        <p:spPr>
          <a:xfrm>
            <a:off x="14064096" y="3898209"/>
            <a:ext cx="1150506" cy="377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E9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5138402" y="3898209"/>
            <a:ext cx="1155723" cy="377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E9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6217925" y="3898209"/>
            <a:ext cx="1155642" cy="377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E9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952439" y="4523026"/>
            <a:ext cx="3436623" cy="387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2400" dirty="0"/>
          </a:p>
        </p:txBody>
      </p:sp>
      <p:sp>
        <p:nvSpPr>
          <p:cNvPr id="32" name="Text 29"/>
          <p:cNvSpPr/>
          <p:nvPr/>
        </p:nvSpPr>
        <p:spPr>
          <a:xfrm>
            <a:off x="952439" y="4929712"/>
            <a:ext cx="3436623" cy="4137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Owner, by name</a:t>
            </a:r>
            <a:endParaRPr lang="en-US" sz="1950" dirty="0"/>
          </a:p>
        </p:txBody>
      </p:sp>
      <p:sp>
        <p:nvSpPr>
          <p:cNvPr id="33" name="Shape 30"/>
          <p:cNvSpPr/>
          <p:nvPr/>
        </p:nvSpPr>
        <p:spPr>
          <a:xfrm>
            <a:off x="4381432" y="4637964"/>
            <a:ext cx="3238488" cy="55243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0D1B2">
                  <a:alpha val="100000"/>
                </a:srgbClr>
              </a:gs>
              <a:gs pos="100000">
                <a:srgbClr val="00B49A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34" name="Text 31"/>
          <p:cNvSpPr/>
          <p:nvPr/>
        </p:nvSpPr>
        <p:spPr>
          <a:xfrm>
            <a:off x="4610032" y="4637964"/>
            <a:ext cx="2878443" cy="5905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measured</a:t>
            </a:r>
            <a:endParaRPr lang="en-US" sz="1950" dirty="0"/>
          </a:p>
        </p:txBody>
      </p:sp>
      <p:sp>
        <p:nvSpPr>
          <p:cNvPr id="35" name="Text 32"/>
          <p:cNvSpPr/>
          <p:nvPr/>
        </p:nvSpPr>
        <p:spPr>
          <a:xfrm>
            <a:off x="952439" y="5533912"/>
            <a:ext cx="3436623" cy="387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952439" y="5940598"/>
            <a:ext cx="3436623" cy="4137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Owner, by name</a:t>
            </a:r>
            <a:endParaRPr lang="en-US" sz="1950" dirty="0"/>
          </a:p>
        </p:txBody>
      </p:sp>
      <p:sp>
        <p:nvSpPr>
          <p:cNvPr id="37" name="Shape 34"/>
          <p:cNvSpPr/>
          <p:nvPr/>
        </p:nvSpPr>
        <p:spPr>
          <a:xfrm>
            <a:off x="7619920" y="5648851"/>
            <a:ext cx="4318012" cy="55243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0C6C0">
                  <a:alpha val="100000"/>
                </a:srgbClr>
              </a:gs>
              <a:gs pos="100000">
                <a:srgbClr val="3B82F6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38" name="Text 35"/>
          <p:cNvSpPr/>
          <p:nvPr/>
        </p:nvSpPr>
        <p:spPr>
          <a:xfrm>
            <a:off x="7848520" y="5648851"/>
            <a:ext cx="3990352" cy="5905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release live</a:t>
            </a:r>
            <a:endParaRPr lang="en-US" sz="1950" dirty="0"/>
          </a:p>
        </p:txBody>
      </p:sp>
      <p:sp>
        <p:nvSpPr>
          <p:cNvPr id="39" name="Text 36"/>
          <p:cNvSpPr/>
          <p:nvPr/>
        </p:nvSpPr>
        <p:spPr>
          <a:xfrm>
            <a:off x="952439" y="6544799"/>
            <a:ext cx="3436623" cy="387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Rollout</a:t>
            </a:r>
            <a:endParaRPr lang="en-US" sz="2400" dirty="0"/>
          </a:p>
        </p:txBody>
      </p:sp>
      <p:sp>
        <p:nvSpPr>
          <p:cNvPr id="40" name="Text 37"/>
          <p:cNvSpPr/>
          <p:nvPr/>
        </p:nvSpPr>
        <p:spPr>
          <a:xfrm>
            <a:off x="952439" y="6951484"/>
            <a:ext cx="3436623" cy="4137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Owner, by name</a:t>
            </a:r>
            <a:endParaRPr lang="en-US" sz="1950" dirty="0"/>
          </a:p>
        </p:txBody>
      </p:sp>
      <p:sp>
        <p:nvSpPr>
          <p:cNvPr id="41" name="Shape 38"/>
          <p:cNvSpPr/>
          <p:nvPr/>
        </p:nvSpPr>
        <p:spPr>
          <a:xfrm>
            <a:off x="11937932" y="6659737"/>
            <a:ext cx="3238570" cy="55243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B82F6">
                  <a:alpha val="100000"/>
                </a:srgbClr>
              </a:gs>
              <a:gs pos="100000">
                <a:srgbClr val="6366F1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42" name="Text 39"/>
          <p:cNvSpPr/>
          <p:nvPr/>
        </p:nvSpPr>
        <p:spPr>
          <a:xfrm>
            <a:off x="12166532" y="6659737"/>
            <a:ext cx="2878527" cy="5905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target met</a:t>
            </a:r>
            <a:endParaRPr lang="en-US" sz="1950" dirty="0"/>
          </a:p>
        </p:txBody>
      </p:sp>
      <p:sp>
        <p:nvSpPr>
          <p:cNvPr id="43" name="Text 40"/>
          <p:cNvSpPr/>
          <p:nvPr/>
        </p:nvSpPr>
        <p:spPr>
          <a:xfrm>
            <a:off x="952439" y="7555685"/>
            <a:ext cx="3436623" cy="387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</a:t>
            </a:r>
            <a:endParaRPr lang="en-US" sz="2400" dirty="0"/>
          </a:p>
        </p:txBody>
      </p:sp>
      <p:sp>
        <p:nvSpPr>
          <p:cNvPr id="44" name="Text 41"/>
          <p:cNvSpPr/>
          <p:nvPr/>
        </p:nvSpPr>
        <p:spPr>
          <a:xfrm>
            <a:off x="952439" y="7962371"/>
            <a:ext cx="3436623" cy="4137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Owner, by name</a:t>
            </a:r>
            <a:endParaRPr lang="en-US" sz="1950" dirty="0"/>
          </a:p>
        </p:txBody>
      </p:sp>
      <p:sp>
        <p:nvSpPr>
          <p:cNvPr id="45" name="Shape 42"/>
          <p:cNvSpPr/>
          <p:nvPr/>
        </p:nvSpPr>
        <p:spPr>
          <a:xfrm>
            <a:off x="15176502" y="7670624"/>
            <a:ext cx="2158965" cy="55243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6366F1">
                  <a:alpha val="100000"/>
                </a:srgbClr>
              </a:gs>
              <a:gs pos="100000">
                <a:srgbClr val="7F56D9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46" name="Text 43"/>
          <p:cNvSpPr/>
          <p:nvPr/>
        </p:nvSpPr>
        <p:spPr>
          <a:xfrm>
            <a:off x="15405102" y="7670624"/>
            <a:ext cx="1777965" cy="5905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Handed over</a:t>
            </a:r>
            <a:endParaRPr lang="en-US" sz="1950" dirty="0"/>
          </a:p>
        </p:txBody>
      </p:sp>
      <p:pic>
        <p:nvPicPr>
          <p:cNvPr id="4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439" y="8767347"/>
            <a:ext cx="266641" cy="266641"/>
          </a:xfrm>
          <a:prstGeom prst="rect">
            <a:avLst/>
          </a:prstGeom>
        </p:spPr>
      </p:pic>
      <p:sp>
        <p:nvSpPr>
          <p:cNvPr id="48" name="Text 44"/>
          <p:cNvSpPr/>
          <p:nvPr/>
        </p:nvSpPr>
        <p:spPr>
          <a:xfrm>
            <a:off x="1371434" y="8699851"/>
            <a:ext cx="14396943" cy="439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run from approval, not from today. The label on each bar is the gate that closes the phase.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87" cy="10286978"/>
          </a:xfrm>
          <a:prstGeom prst="rect">
            <a:avLst/>
          </a:prstGeom>
          <a:gradFill rotWithShape="1">
            <a:gsLst>
              <a:gs pos="0">
                <a:srgbClr val="0C1244">
                  <a:alpha val="100000"/>
                </a:srgbClr>
              </a:gs>
              <a:gs pos="55000">
                <a:srgbClr val="1E2A6B">
                  <a:alpha val="100000"/>
                </a:srgbClr>
              </a:gs>
              <a:gs pos="100000">
                <a:srgbClr val="3B2E7E">
                  <a:alpha val="100000"/>
                </a:srgbClr>
              </a:gs>
            </a:gsLst>
            <a:lin ang="18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14256180" y="-952439"/>
            <a:ext cx="4603238" cy="4603238"/>
          </a:xfrm>
          <a:prstGeom prst="roundRect">
            <a:avLst>
              <a:gd name="adj" fmla="val 26900"/>
            </a:avLst>
          </a:prstGeom>
          <a:ln w="15651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192019" y="8191433"/>
            <a:ext cx="3619497" cy="3619497"/>
          </a:xfrm>
          <a:prstGeom prst="roundRect">
            <a:avLst>
              <a:gd name="adj" fmla="val 26316"/>
            </a:avLst>
          </a:prstGeom>
          <a:solidFill>
            <a:srgbClr val="7F56D9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52439" y="3359704"/>
            <a:ext cx="1066725" cy="1066725"/>
          </a:xfrm>
          <a:prstGeom prst="roundRect">
            <a:avLst>
              <a:gd name="adj" fmla="val 25002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8155" y="3645419"/>
            <a:ext cx="495294" cy="49529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52439" y="4807355"/>
            <a:ext cx="18021420" cy="39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spc="488" kern="0" dirty="0">
                <a:solidFill>
                  <a:srgbClr val="A98B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THREE · SECTIONS 7–10</a:t>
            </a:r>
            <a:endParaRPr lang="en-US" sz="1875" dirty="0"/>
          </a:p>
        </p:txBody>
      </p:sp>
      <p:sp>
        <p:nvSpPr>
          <p:cNvPr id="8" name="Text 5"/>
          <p:cNvSpPr/>
          <p:nvPr/>
        </p:nvSpPr>
        <p:spPr>
          <a:xfrm>
            <a:off x="952439" y="5548259"/>
            <a:ext cx="18021420" cy="9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106"/>
              </a:lnSpc>
              <a:buNone/>
            </a:pPr>
            <a:r>
              <a:rPr lang="en-US" sz="7200" b="1" spc="-14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numbers</a:t>
            </a:r>
            <a:endParaRPr lang="en-US" sz="7200" dirty="0"/>
          </a:p>
        </p:txBody>
      </p:sp>
      <p:sp>
        <p:nvSpPr>
          <p:cNvPr id="9" name="Shape 6"/>
          <p:cNvSpPr/>
          <p:nvPr/>
        </p:nvSpPr>
        <p:spPr>
          <a:xfrm>
            <a:off x="952439" y="6889206"/>
            <a:ext cx="1714456" cy="38068"/>
          </a:xfrm>
          <a:prstGeom prst="rect">
            <a:avLst/>
          </a:prstGeom>
          <a:gradFill rotWithShape="1">
            <a:gsLst>
              <a:gs pos="0">
                <a:srgbClr val="00D1B2">
                  <a:alpha val="100000"/>
                </a:srgbClr>
              </a:gs>
              <a:gs pos="100000">
                <a:srgbClr val="6366F1">
                  <a:alpha val="100000"/>
                </a:srgbClr>
              </a:gs>
            </a:gsLst>
            <a:lin ang="0" scaled="0"/>
          </a:gra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439" y="952439"/>
            <a:ext cx="12413842" cy="696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478"/>
              </a:lnSpc>
              <a:buNone/>
            </a:pPr>
            <a:r>
              <a:rPr lang="en-US" sz="4800" b="1" spc="-48" kern="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52439" y="1763121"/>
            <a:ext cx="12413842" cy="4914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402"/>
              </a:lnSpc>
              <a:buNone/>
            </a:pPr>
            <a:r>
              <a:rPr lang="en-US" sz="2550" dirty="0">
                <a:solidFill>
                  <a:srgbClr val="33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changes, for whom, stated as a measurable driver rather than a promise.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16421178" y="1416431"/>
            <a:ext cx="914371" cy="914371"/>
          </a:xfrm>
          <a:prstGeom prst="roundRect">
            <a:avLst>
              <a:gd name="adj" fmla="val 27084"/>
            </a:avLst>
          </a:prstGeom>
          <a:solidFill>
            <a:srgbClr val="EDFBF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68824" y="1664078"/>
            <a:ext cx="419076" cy="4190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439" y="2749878"/>
            <a:ext cx="16383109" cy="6775164"/>
          </a:xfrm>
          <a:prstGeom prst="roundRect">
            <a:avLst>
              <a:gd name="adj" fmla="val 2812"/>
            </a:avLst>
          </a:prstGeom>
          <a:solidFill>
            <a:srgbClr val="FFFFFF"/>
          </a:solidFill>
          <a:ln w="5217">
            <a:solidFill>
              <a:srgbClr val="ECEFF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14801" y="4480230"/>
            <a:ext cx="15458386" cy="15651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8" name="Text 5"/>
          <p:cNvSpPr/>
          <p:nvPr/>
        </p:nvSpPr>
        <p:spPr>
          <a:xfrm>
            <a:off x="1414801" y="3945644"/>
            <a:ext cx="5208197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6492383" y="3945644"/>
            <a:ext cx="3720243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1950" dirty="0"/>
          </a:p>
        </p:txBody>
      </p:sp>
      <p:sp>
        <p:nvSpPr>
          <p:cNvPr id="10" name="Text 7"/>
          <p:cNvSpPr/>
          <p:nvPr/>
        </p:nvSpPr>
        <p:spPr>
          <a:xfrm>
            <a:off x="10217281" y="3945644"/>
            <a:ext cx="3472131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13716622" y="3945644"/>
            <a:ext cx="3472131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950" dirty="0"/>
          </a:p>
        </p:txBody>
      </p:sp>
      <p:sp>
        <p:nvSpPr>
          <p:cNvPr id="12" name="Shape 9"/>
          <p:cNvSpPr/>
          <p:nvPr/>
        </p:nvSpPr>
        <p:spPr>
          <a:xfrm>
            <a:off x="1414801" y="5838621"/>
            <a:ext cx="15458386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3" name="Text 10"/>
          <p:cNvSpPr/>
          <p:nvPr/>
        </p:nvSpPr>
        <p:spPr>
          <a:xfrm>
            <a:off x="1414801" y="4961503"/>
            <a:ext cx="5208197" cy="449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719"/>
              </a:lnSpc>
              <a:buNone/>
            </a:pPr>
            <a:r>
              <a:rPr lang="en-US" sz="24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returned to the team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6492383" y="4884226"/>
            <a:ext cx="1602370" cy="566051"/>
          </a:xfrm>
          <a:prstGeom prst="roundRect">
            <a:avLst>
              <a:gd name="adj" fmla="val 50000"/>
            </a:avLst>
          </a:prstGeom>
          <a:solidFill>
            <a:srgbClr val="EDFBF8"/>
          </a:solidFill>
          <a:ln/>
        </p:spPr>
      </p:sp>
      <p:sp>
        <p:nvSpPr>
          <p:cNvPr id="15" name="Text 12"/>
          <p:cNvSpPr/>
          <p:nvPr/>
        </p:nvSpPr>
        <p:spPr>
          <a:xfrm>
            <a:off x="6720983" y="4979476"/>
            <a:ext cx="1221370" cy="4136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B4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</a:t>
            </a:r>
            <a:endParaRPr lang="en-US" sz="1950" dirty="0"/>
          </a:p>
        </p:txBody>
      </p:sp>
      <p:sp>
        <p:nvSpPr>
          <p:cNvPr id="16" name="Text 13"/>
          <p:cNvSpPr/>
          <p:nvPr/>
        </p:nvSpPr>
        <p:spPr>
          <a:xfrm>
            <a:off x="10217281" y="4781596"/>
            <a:ext cx="3251177" cy="8094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35"/>
              </a:lnSpc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Today’s measured hours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3716622" y="4781596"/>
            <a:ext cx="3251177" cy="8094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35"/>
              </a:lnSpc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Hours, by a stated date</a:t>
            </a:r>
            <a:endParaRPr lang="en-US" sz="2250" dirty="0"/>
          </a:p>
        </p:txBody>
      </p:sp>
      <p:sp>
        <p:nvSpPr>
          <p:cNvPr id="18" name="Shape 15"/>
          <p:cNvSpPr/>
          <p:nvPr/>
        </p:nvSpPr>
        <p:spPr>
          <a:xfrm>
            <a:off x="1414801" y="6981320"/>
            <a:ext cx="15458386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9" name="Text 16"/>
          <p:cNvSpPr/>
          <p:nvPr/>
        </p:nvSpPr>
        <p:spPr>
          <a:xfrm>
            <a:off x="1414801" y="6206831"/>
            <a:ext cx="5208197" cy="449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719"/>
              </a:lnSpc>
              <a:buNone/>
            </a:pPr>
            <a:r>
              <a:rPr lang="en-US" sz="24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failed transactions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6492383" y="6129554"/>
            <a:ext cx="2426828" cy="566051"/>
          </a:xfrm>
          <a:prstGeom prst="roundRect">
            <a:avLst>
              <a:gd name="adj" fmla="val 50000"/>
            </a:avLst>
          </a:prstGeom>
          <a:solidFill>
            <a:srgbClr val="F1F1FE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983" y="6224804"/>
            <a:ext cx="2045828" cy="4136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avoidance</a:t>
            </a:r>
            <a:endParaRPr lang="en-US" sz="1950" dirty="0"/>
          </a:p>
        </p:txBody>
      </p:sp>
      <p:sp>
        <p:nvSpPr>
          <p:cNvPr id="22" name="Text 19"/>
          <p:cNvSpPr/>
          <p:nvPr/>
        </p:nvSpPr>
        <p:spPr>
          <a:xfrm>
            <a:off x="10217281" y="6219711"/>
            <a:ext cx="3472131" cy="423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35"/>
              </a:lnSpc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failure rate</a:t>
            </a:r>
            <a:endParaRPr lang="en-US" sz="2250" dirty="0"/>
          </a:p>
        </p:txBody>
      </p:sp>
      <p:sp>
        <p:nvSpPr>
          <p:cNvPr id="23" name="Text 20"/>
          <p:cNvSpPr/>
          <p:nvPr/>
        </p:nvSpPr>
        <p:spPr>
          <a:xfrm>
            <a:off x="13716622" y="6219711"/>
            <a:ext cx="3472131" cy="423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35"/>
              </a:lnSpc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Rate, by a stated date</a:t>
            </a:r>
            <a:endParaRPr lang="en-US" sz="2250" dirty="0"/>
          </a:p>
        </p:txBody>
      </p:sp>
      <p:sp>
        <p:nvSpPr>
          <p:cNvPr id="24" name="Text 21"/>
          <p:cNvSpPr/>
          <p:nvPr/>
        </p:nvSpPr>
        <p:spPr>
          <a:xfrm>
            <a:off x="1414801" y="7452159"/>
            <a:ext cx="5208197" cy="449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719"/>
              </a:lnSpc>
              <a:buNone/>
            </a:pPr>
            <a:r>
              <a:rPr lang="en-US" sz="24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per account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492383" y="7374881"/>
            <a:ext cx="1109358" cy="566051"/>
          </a:xfrm>
          <a:prstGeom prst="roundRect">
            <a:avLst>
              <a:gd name="adj" fmla="val 50000"/>
            </a:avLst>
          </a:prstGeom>
          <a:solidFill>
            <a:srgbClr val="F5F1FE"/>
          </a:solidFill>
          <a:ln/>
        </p:spPr>
      </p:sp>
      <p:sp>
        <p:nvSpPr>
          <p:cNvPr id="26" name="Text 23"/>
          <p:cNvSpPr/>
          <p:nvPr/>
        </p:nvSpPr>
        <p:spPr>
          <a:xfrm>
            <a:off x="6720983" y="7470131"/>
            <a:ext cx="728358" cy="4136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</a:t>
            </a:r>
            <a:endParaRPr lang="en-US" sz="1950" dirty="0"/>
          </a:p>
        </p:txBody>
      </p:sp>
      <p:sp>
        <p:nvSpPr>
          <p:cNvPr id="27" name="Text 24"/>
          <p:cNvSpPr/>
          <p:nvPr/>
        </p:nvSpPr>
        <p:spPr>
          <a:xfrm>
            <a:off x="10217281" y="7465039"/>
            <a:ext cx="3472131" cy="423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35"/>
              </a:lnSpc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average</a:t>
            </a:r>
            <a:endParaRPr lang="en-US" sz="2250" dirty="0"/>
          </a:p>
        </p:txBody>
      </p:sp>
      <p:sp>
        <p:nvSpPr>
          <p:cNvPr id="28" name="Text 25"/>
          <p:cNvSpPr/>
          <p:nvPr/>
        </p:nvSpPr>
        <p:spPr>
          <a:xfrm>
            <a:off x="13716622" y="7272252"/>
            <a:ext cx="3251177" cy="8094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35"/>
              </a:lnSpc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Average, by a stated date</a:t>
            </a:r>
            <a:endParaRPr lang="en-US" sz="2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439" y="952439"/>
            <a:ext cx="18021420" cy="39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spc="488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SECTIONS 8 AND 9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52439" y="1502839"/>
            <a:ext cx="18021420" cy="696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478"/>
              </a:lnSpc>
              <a:buNone/>
            </a:pPr>
            <a:r>
              <a:rPr lang="en-US" sz="4800" b="1" spc="-48" kern="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cost tables, never one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52439" y="2580243"/>
            <a:ext cx="8001091" cy="6533061"/>
          </a:xfrm>
          <a:prstGeom prst="roundRect">
            <a:avLst>
              <a:gd name="adj" fmla="val 2916"/>
            </a:avLst>
          </a:prstGeom>
          <a:solidFill>
            <a:srgbClr val="FFFFFF"/>
          </a:solidFill>
          <a:ln w="5217">
            <a:solidFill>
              <a:srgbClr val="ECEF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38583" y="2966386"/>
            <a:ext cx="609581" cy="609581"/>
          </a:xfrm>
          <a:prstGeom prst="roundRect">
            <a:avLst>
              <a:gd name="adj" fmla="val 28126"/>
            </a:avLst>
          </a:prstGeom>
          <a:solidFill>
            <a:srgbClr val="EDFBF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90937" y="3118741"/>
            <a:ext cx="304790" cy="3047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14804" y="3140750"/>
            <a:ext cx="1689349" cy="29895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88" kern="0" dirty="0">
                <a:solidFill>
                  <a:srgbClr val="00B4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8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38583" y="3728321"/>
            <a:ext cx="7951685" cy="471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work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1338583" y="4752984"/>
            <a:ext cx="7228804" cy="15651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0" name="Text 7"/>
          <p:cNvSpPr/>
          <p:nvPr/>
        </p:nvSpPr>
        <p:spPr>
          <a:xfrm>
            <a:off x="1338583" y="4313691"/>
            <a:ext cx="5405915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ITEM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6314922" y="4313691"/>
            <a:ext cx="2252465" cy="325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1950" dirty="0"/>
          </a:p>
        </p:txBody>
      </p:sp>
      <p:sp>
        <p:nvSpPr>
          <p:cNvPr id="12" name="Shape 9"/>
          <p:cNvSpPr/>
          <p:nvPr/>
        </p:nvSpPr>
        <p:spPr>
          <a:xfrm>
            <a:off x="1338583" y="5577361"/>
            <a:ext cx="7228804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3" name="Text 10"/>
          <p:cNvSpPr/>
          <p:nvPr/>
        </p:nvSpPr>
        <p:spPr>
          <a:xfrm>
            <a:off x="1338583" y="5035276"/>
            <a:ext cx="5405915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Licences and hardware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6314922" y="5035276"/>
            <a:ext cx="2252465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250" dirty="0"/>
          </a:p>
        </p:txBody>
      </p:sp>
      <p:sp>
        <p:nvSpPr>
          <p:cNvPr id="15" name="Shape 12"/>
          <p:cNvSpPr/>
          <p:nvPr/>
        </p:nvSpPr>
        <p:spPr>
          <a:xfrm>
            <a:off x="1338583" y="6391303"/>
            <a:ext cx="7228804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6" name="Text 13"/>
          <p:cNvSpPr/>
          <p:nvPr/>
        </p:nvSpPr>
        <p:spPr>
          <a:xfrm>
            <a:off x="1338583" y="5849218"/>
            <a:ext cx="5405915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effort, day rate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6314922" y="5849218"/>
            <a:ext cx="2252465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250" dirty="0"/>
          </a:p>
        </p:txBody>
      </p:sp>
      <p:sp>
        <p:nvSpPr>
          <p:cNvPr id="18" name="Shape 15"/>
          <p:cNvSpPr/>
          <p:nvPr/>
        </p:nvSpPr>
        <p:spPr>
          <a:xfrm>
            <a:off x="1338583" y="7205246"/>
            <a:ext cx="7228804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9" name="Text 16"/>
          <p:cNvSpPr/>
          <p:nvPr/>
        </p:nvSpPr>
        <p:spPr>
          <a:xfrm>
            <a:off x="1338583" y="6663161"/>
            <a:ext cx="5405915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and integration fees</a:t>
            </a:r>
            <a:endParaRPr lang="en-US" sz="2250" dirty="0"/>
          </a:p>
        </p:txBody>
      </p:sp>
      <p:sp>
        <p:nvSpPr>
          <p:cNvPr id="20" name="Text 17"/>
          <p:cNvSpPr/>
          <p:nvPr/>
        </p:nvSpPr>
        <p:spPr>
          <a:xfrm>
            <a:off x="6314922" y="6663161"/>
            <a:ext cx="2252465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338583" y="7477103"/>
            <a:ext cx="5405915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Contingency</a:t>
            </a:r>
            <a:endParaRPr lang="en-US" sz="2250" dirty="0"/>
          </a:p>
        </p:txBody>
      </p:sp>
      <p:sp>
        <p:nvSpPr>
          <p:cNvPr id="22" name="Text 19"/>
          <p:cNvSpPr/>
          <p:nvPr/>
        </p:nvSpPr>
        <p:spPr>
          <a:xfrm>
            <a:off x="6314922" y="7477103"/>
            <a:ext cx="2252465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250" dirty="0"/>
          </a:p>
        </p:txBody>
      </p:sp>
      <p:sp>
        <p:nvSpPr>
          <p:cNvPr id="23" name="Shape 20"/>
          <p:cNvSpPr/>
          <p:nvPr/>
        </p:nvSpPr>
        <p:spPr>
          <a:xfrm>
            <a:off x="1338583" y="8171542"/>
            <a:ext cx="7228804" cy="15651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24" name="Text 21"/>
          <p:cNvSpPr/>
          <p:nvPr/>
        </p:nvSpPr>
        <p:spPr>
          <a:xfrm>
            <a:off x="1338583" y="8377616"/>
            <a:ext cx="5405915" cy="387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6314922" y="8377616"/>
            <a:ext cx="2252465" cy="387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9334457" y="2580243"/>
            <a:ext cx="8001091" cy="6533061"/>
          </a:xfrm>
          <a:prstGeom prst="roundRect">
            <a:avLst>
              <a:gd name="adj" fmla="val 2916"/>
            </a:avLst>
          </a:prstGeom>
          <a:solidFill>
            <a:srgbClr val="FFFFFF"/>
          </a:solidFill>
          <a:ln w="5217">
            <a:solidFill>
              <a:srgbClr val="ECEF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720601" y="2966386"/>
            <a:ext cx="609581" cy="609581"/>
          </a:xfrm>
          <a:prstGeom prst="roundRect">
            <a:avLst>
              <a:gd name="adj" fmla="val 28126"/>
            </a:avLst>
          </a:prstGeom>
          <a:solidFill>
            <a:srgbClr val="F5F1FE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2956" y="3118741"/>
            <a:ext cx="304790" cy="30479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10596822" y="3140750"/>
            <a:ext cx="1689349" cy="29895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88" kern="0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9</a:t>
            </a:r>
            <a:endParaRPr lang="en-US" sz="1800" dirty="0"/>
          </a:p>
        </p:txBody>
      </p:sp>
      <p:sp>
        <p:nvSpPr>
          <p:cNvPr id="30" name="Text 26"/>
          <p:cNvSpPr/>
          <p:nvPr/>
        </p:nvSpPr>
        <p:spPr>
          <a:xfrm>
            <a:off x="9720601" y="3728321"/>
            <a:ext cx="7951685" cy="471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costs</a:t>
            </a:r>
            <a:endParaRPr lang="en-US" sz="3000" dirty="0"/>
          </a:p>
        </p:txBody>
      </p:sp>
      <p:sp>
        <p:nvSpPr>
          <p:cNvPr id="31" name="Shape 27"/>
          <p:cNvSpPr/>
          <p:nvPr/>
        </p:nvSpPr>
        <p:spPr>
          <a:xfrm>
            <a:off x="9720601" y="4752984"/>
            <a:ext cx="7228804" cy="15651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32" name="Text 28"/>
          <p:cNvSpPr/>
          <p:nvPr/>
        </p:nvSpPr>
        <p:spPr>
          <a:xfrm>
            <a:off x="9720601" y="4313691"/>
            <a:ext cx="5405915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ITEM</a:t>
            </a:r>
            <a:endParaRPr lang="en-US" sz="1950" dirty="0"/>
          </a:p>
        </p:txBody>
      </p:sp>
      <p:sp>
        <p:nvSpPr>
          <p:cNvPr id="33" name="Text 29"/>
          <p:cNvSpPr/>
          <p:nvPr/>
        </p:nvSpPr>
        <p:spPr>
          <a:xfrm>
            <a:off x="14696941" y="4313691"/>
            <a:ext cx="2252465" cy="325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</a:t>
            </a:r>
            <a:endParaRPr lang="en-US" sz="1950" dirty="0"/>
          </a:p>
        </p:txBody>
      </p:sp>
      <p:sp>
        <p:nvSpPr>
          <p:cNvPr id="34" name="Shape 30"/>
          <p:cNvSpPr/>
          <p:nvPr/>
        </p:nvSpPr>
        <p:spPr>
          <a:xfrm>
            <a:off x="9720601" y="5577361"/>
            <a:ext cx="7228804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35" name="Text 31"/>
          <p:cNvSpPr/>
          <p:nvPr/>
        </p:nvSpPr>
        <p:spPr>
          <a:xfrm>
            <a:off x="9720601" y="5035276"/>
            <a:ext cx="5405915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 and cloud</a:t>
            </a:r>
            <a:endParaRPr lang="en-US" sz="2250" dirty="0"/>
          </a:p>
        </p:txBody>
      </p:sp>
      <p:sp>
        <p:nvSpPr>
          <p:cNvPr id="36" name="Text 32"/>
          <p:cNvSpPr/>
          <p:nvPr/>
        </p:nvSpPr>
        <p:spPr>
          <a:xfrm>
            <a:off x="14696941" y="5035276"/>
            <a:ext cx="2252465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250" dirty="0"/>
          </a:p>
        </p:txBody>
      </p:sp>
      <p:sp>
        <p:nvSpPr>
          <p:cNvPr id="37" name="Shape 33"/>
          <p:cNvSpPr/>
          <p:nvPr/>
        </p:nvSpPr>
        <p:spPr>
          <a:xfrm>
            <a:off x="9720601" y="6391303"/>
            <a:ext cx="7228804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38" name="Text 34"/>
          <p:cNvSpPr/>
          <p:nvPr/>
        </p:nvSpPr>
        <p:spPr>
          <a:xfrm>
            <a:off x="9720601" y="5849218"/>
            <a:ext cx="5405915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and on-call cover</a:t>
            </a:r>
            <a:endParaRPr lang="en-US" sz="2250" dirty="0"/>
          </a:p>
        </p:txBody>
      </p:sp>
      <p:sp>
        <p:nvSpPr>
          <p:cNvPr id="39" name="Text 35"/>
          <p:cNvSpPr/>
          <p:nvPr/>
        </p:nvSpPr>
        <p:spPr>
          <a:xfrm>
            <a:off x="14696941" y="5849218"/>
            <a:ext cx="2252465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250" dirty="0"/>
          </a:p>
        </p:txBody>
      </p:sp>
      <p:sp>
        <p:nvSpPr>
          <p:cNvPr id="40" name="Shape 36"/>
          <p:cNvSpPr/>
          <p:nvPr/>
        </p:nvSpPr>
        <p:spPr>
          <a:xfrm>
            <a:off x="9720601" y="7205246"/>
            <a:ext cx="7228804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41" name="Text 37"/>
          <p:cNvSpPr/>
          <p:nvPr/>
        </p:nvSpPr>
        <p:spPr>
          <a:xfrm>
            <a:off x="9720601" y="6663161"/>
            <a:ext cx="5405915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FTE to operate it</a:t>
            </a:r>
            <a:endParaRPr lang="en-US" sz="2250" dirty="0"/>
          </a:p>
        </p:txBody>
      </p:sp>
      <p:sp>
        <p:nvSpPr>
          <p:cNvPr id="42" name="Text 38"/>
          <p:cNvSpPr/>
          <p:nvPr/>
        </p:nvSpPr>
        <p:spPr>
          <a:xfrm>
            <a:off x="14696941" y="6663161"/>
            <a:ext cx="2252465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250" dirty="0"/>
          </a:p>
        </p:txBody>
      </p:sp>
      <p:sp>
        <p:nvSpPr>
          <p:cNvPr id="43" name="Text 39"/>
          <p:cNvSpPr/>
          <p:nvPr/>
        </p:nvSpPr>
        <p:spPr>
          <a:xfrm>
            <a:off x="9720601" y="7477103"/>
            <a:ext cx="5405915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Renewal and uplift</a:t>
            </a:r>
            <a:endParaRPr lang="en-US" sz="2250" dirty="0"/>
          </a:p>
        </p:txBody>
      </p:sp>
      <p:sp>
        <p:nvSpPr>
          <p:cNvPr id="44" name="Text 40"/>
          <p:cNvSpPr/>
          <p:nvPr/>
        </p:nvSpPr>
        <p:spPr>
          <a:xfrm>
            <a:off x="14696941" y="7477103"/>
            <a:ext cx="2252465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250" dirty="0"/>
          </a:p>
        </p:txBody>
      </p:sp>
      <p:sp>
        <p:nvSpPr>
          <p:cNvPr id="45" name="Shape 41"/>
          <p:cNvSpPr/>
          <p:nvPr/>
        </p:nvSpPr>
        <p:spPr>
          <a:xfrm>
            <a:off x="9720601" y="8171542"/>
            <a:ext cx="7228804" cy="15651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46" name="Text 42"/>
          <p:cNvSpPr/>
          <p:nvPr/>
        </p:nvSpPr>
        <p:spPr>
          <a:xfrm>
            <a:off x="9720601" y="8377616"/>
            <a:ext cx="5405915" cy="387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2400" dirty="0"/>
          </a:p>
        </p:txBody>
      </p:sp>
      <p:sp>
        <p:nvSpPr>
          <p:cNvPr id="47" name="Text 43"/>
          <p:cNvSpPr/>
          <p:nvPr/>
        </p:nvSpPr>
        <p:spPr>
          <a:xfrm>
            <a:off x="14696941" y="8377616"/>
            <a:ext cx="2252465" cy="387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39" y="952439"/>
            <a:ext cx="914371" cy="914371"/>
          </a:xfrm>
          <a:prstGeom prst="roundRect">
            <a:avLst>
              <a:gd name="adj" fmla="val 27084"/>
            </a:avLst>
          </a:prstGeom>
          <a:solidFill>
            <a:srgbClr val="F5F1F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0086" y="1200086"/>
            <a:ext cx="419076" cy="41907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439" y="2171600"/>
            <a:ext cx="8182490" cy="696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478"/>
              </a:lnSpc>
              <a:buNone/>
            </a:pPr>
            <a:r>
              <a:rPr lang="en-US" sz="4800" b="1" spc="-48" kern="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and cost savings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952439" y="3134718"/>
            <a:ext cx="7661786" cy="9771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773"/>
              </a:lnSpc>
              <a:buNone/>
            </a:pPr>
            <a:r>
              <a:rPr lang="en-US" sz="2550" dirty="0">
                <a:solidFill>
                  <a:srgbClr val="33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offsetting value, stated with its basis so it can be checked later.</a:t>
            </a:r>
            <a:endParaRPr lang="en-US" sz="25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53001" y="2826015"/>
            <a:ext cx="304790" cy="30479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48215" y="2824548"/>
            <a:ext cx="1368516" cy="3459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spc="336" kern="0" dirty="0">
                <a:solidFill>
                  <a:srgbClr val="00B4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9153001" y="3265634"/>
            <a:ext cx="8428023" cy="9448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402"/>
              </a:lnSpc>
              <a:buNone/>
            </a:pPr>
            <a:r>
              <a:rPr lang="en-US" sz="255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per mechanism, not a single blended figure.</a:t>
            </a:r>
            <a:endParaRPr lang="en-US" sz="2550" dirty="0"/>
          </a:p>
        </p:txBody>
      </p:sp>
      <p:sp>
        <p:nvSpPr>
          <p:cNvPr id="9" name="Shape 5"/>
          <p:cNvSpPr/>
          <p:nvPr/>
        </p:nvSpPr>
        <p:spPr>
          <a:xfrm>
            <a:off x="9153001" y="4477214"/>
            <a:ext cx="8182547" cy="9525"/>
          </a:xfrm>
          <a:prstGeom prst="rect">
            <a:avLst/>
          </a:prstGeom>
          <a:solidFill>
            <a:srgbClr val="ECEFF7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53001" y="4792927"/>
            <a:ext cx="304790" cy="30479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48215" y="4791460"/>
            <a:ext cx="2764291" cy="3459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spc="336" kern="0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VALUE</a:t>
            </a:r>
            <a:endParaRPr lang="en-US" sz="2100" dirty="0"/>
          </a:p>
        </p:txBody>
      </p:sp>
      <p:sp>
        <p:nvSpPr>
          <p:cNvPr id="12" name="Text 7"/>
          <p:cNvSpPr/>
          <p:nvPr/>
        </p:nvSpPr>
        <p:spPr>
          <a:xfrm>
            <a:off x="9153001" y="5232546"/>
            <a:ext cx="9000802" cy="4914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402"/>
              </a:lnSpc>
              <a:buNone/>
            </a:pPr>
            <a:r>
              <a:rPr lang="en-US" sz="255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range, not a point. State the low case first.</a:t>
            </a:r>
            <a:endParaRPr lang="en-US" sz="2550" dirty="0"/>
          </a:p>
        </p:txBody>
      </p:sp>
      <p:sp>
        <p:nvSpPr>
          <p:cNvPr id="13" name="Shape 8"/>
          <p:cNvSpPr/>
          <p:nvPr/>
        </p:nvSpPr>
        <p:spPr>
          <a:xfrm>
            <a:off x="9153001" y="5990731"/>
            <a:ext cx="8182547" cy="9525"/>
          </a:xfrm>
          <a:prstGeom prst="rect">
            <a:avLst/>
          </a:prstGeom>
          <a:solidFill>
            <a:srgbClr val="ECEFF7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53001" y="6306444"/>
            <a:ext cx="304790" cy="30479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648215" y="6304977"/>
            <a:ext cx="1075266" cy="3459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spc="336" kern="0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</a:t>
            </a:r>
            <a:endParaRPr lang="en-US" sz="2100" dirty="0"/>
          </a:p>
        </p:txBody>
      </p:sp>
      <p:sp>
        <p:nvSpPr>
          <p:cNvPr id="16" name="Text 10"/>
          <p:cNvSpPr/>
          <p:nvPr/>
        </p:nvSpPr>
        <p:spPr>
          <a:xfrm>
            <a:off x="9153001" y="6746063"/>
            <a:ext cx="8428023" cy="9448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402"/>
              </a:lnSpc>
              <a:buNone/>
            </a:pPr>
            <a:r>
              <a:rPr lang="en-US" sz="255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arithmetic: volume × unit cost × rate of change. Anyone should be able to redo it.</a:t>
            </a:r>
            <a:endParaRPr lang="en-US" sz="25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87" cy="10286978"/>
          </a:xfrm>
          <a:prstGeom prst="rect">
            <a:avLst/>
          </a:prstGeom>
          <a:gradFill rotWithShape="1">
            <a:gsLst>
              <a:gs pos="0">
                <a:srgbClr val="0C1244">
                  <a:alpha val="100000"/>
                </a:srgbClr>
              </a:gs>
              <a:gs pos="55000">
                <a:srgbClr val="1E2A6B">
                  <a:alpha val="100000"/>
                </a:srgbClr>
              </a:gs>
              <a:gs pos="100000">
                <a:srgbClr val="3B2E7E">
                  <a:alpha val="100000"/>
                </a:srgbClr>
              </a:gs>
            </a:gsLst>
            <a:lin ang="18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14256180" y="-952439"/>
            <a:ext cx="4603238" cy="4603238"/>
          </a:xfrm>
          <a:prstGeom prst="roundRect">
            <a:avLst>
              <a:gd name="adj" fmla="val 26900"/>
            </a:avLst>
          </a:prstGeom>
          <a:ln w="15651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192019" y="8191433"/>
            <a:ext cx="3619497" cy="3619497"/>
          </a:xfrm>
          <a:prstGeom prst="roundRect">
            <a:avLst>
              <a:gd name="adj" fmla="val 26316"/>
            </a:avLst>
          </a:prstGeom>
          <a:solidFill>
            <a:srgbClr val="FF7E9E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52439" y="3359704"/>
            <a:ext cx="1066725" cy="1066725"/>
          </a:xfrm>
          <a:prstGeom prst="roundRect">
            <a:avLst>
              <a:gd name="adj" fmla="val 25002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8155" y="3645419"/>
            <a:ext cx="495294" cy="49529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52439" y="4807355"/>
            <a:ext cx="18021420" cy="39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spc="488" kern="0" dirty="0">
                <a:solidFill>
                  <a:srgbClr val="A98B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FOUR · SECTIONS 11–13</a:t>
            </a:r>
            <a:endParaRPr lang="en-US" sz="1875" dirty="0"/>
          </a:p>
        </p:txBody>
      </p:sp>
      <p:sp>
        <p:nvSpPr>
          <p:cNvPr id="8" name="Text 5"/>
          <p:cNvSpPr/>
          <p:nvPr/>
        </p:nvSpPr>
        <p:spPr>
          <a:xfrm>
            <a:off x="952439" y="5548259"/>
            <a:ext cx="18021420" cy="9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106"/>
              </a:lnSpc>
              <a:buNone/>
            </a:pPr>
            <a:r>
              <a:rPr lang="en-US" sz="7200" b="1" spc="-14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the decision</a:t>
            </a:r>
            <a:endParaRPr lang="en-US" sz="7200" dirty="0"/>
          </a:p>
        </p:txBody>
      </p:sp>
      <p:sp>
        <p:nvSpPr>
          <p:cNvPr id="9" name="Shape 6"/>
          <p:cNvSpPr/>
          <p:nvPr/>
        </p:nvSpPr>
        <p:spPr>
          <a:xfrm>
            <a:off x="952439" y="6889206"/>
            <a:ext cx="1714456" cy="38068"/>
          </a:xfrm>
          <a:prstGeom prst="rect">
            <a:avLst/>
          </a:prstGeom>
          <a:gradFill rotWithShape="1">
            <a:gsLst>
              <a:gs pos="0">
                <a:srgbClr val="00D1B2">
                  <a:alpha val="100000"/>
                </a:srgbClr>
              </a:gs>
              <a:gs pos="100000">
                <a:srgbClr val="6366F1">
                  <a:alpha val="100000"/>
                </a:srgbClr>
              </a:gs>
            </a:gsLst>
            <a:lin ang="0" scaled="0"/>
          </a:gra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439" y="952439"/>
            <a:ext cx="9265861" cy="696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478"/>
              </a:lnSpc>
              <a:buNone/>
            </a:pPr>
            <a:r>
              <a:rPr lang="en-US" sz="4800" b="1" spc="-48" kern="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52439" y="1763121"/>
            <a:ext cx="9265861" cy="4914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402"/>
              </a:lnSpc>
              <a:buNone/>
            </a:pPr>
            <a:r>
              <a:rPr lang="en-US" sz="2550" dirty="0">
                <a:solidFill>
                  <a:srgbClr val="33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could make this go wrong, and who is watching for it.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16421178" y="1416431"/>
            <a:ext cx="914371" cy="914371"/>
          </a:xfrm>
          <a:prstGeom prst="roundRect">
            <a:avLst>
              <a:gd name="adj" fmla="val 27084"/>
            </a:avLst>
          </a:prstGeom>
          <a:solidFill>
            <a:srgbClr val="FFF1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68824" y="1664078"/>
            <a:ext cx="419076" cy="4190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439" y="2749878"/>
            <a:ext cx="16383109" cy="6775164"/>
          </a:xfrm>
          <a:prstGeom prst="roundRect">
            <a:avLst>
              <a:gd name="adj" fmla="val 2812"/>
            </a:avLst>
          </a:prstGeom>
          <a:solidFill>
            <a:srgbClr val="FFFFFF"/>
          </a:solidFill>
          <a:ln w="5217">
            <a:solidFill>
              <a:srgbClr val="ECEFF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14801" y="4326082"/>
            <a:ext cx="15458386" cy="15651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8" name="Text 5"/>
          <p:cNvSpPr/>
          <p:nvPr/>
        </p:nvSpPr>
        <p:spPr>
          <a:xfrm>
            <a:off x="1414801" y="3791496"/>
            <a:ext cx="491830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6228841" y="3791496"/>
            <a:ext cx="2906235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LIKELIHOOD</a:t>
            </a:r>
            <a:endParaRPr lang="en-US" sz="1950" dirty="0"/>
          </a:p>
        </p:txBody>
      </p:sp>
      <p:sp>
        <p:nvSpPr>
          <p:cNvPr id="10" name="Text 7"/>
          <p:cNvSpPr/>
          <p:nvPr/>
        </p:nvSpPr>
        <p:spPr>
          <a:xfrm>
            <a:off x="9213731" y="3791496"/>
            <a:ext cx="491838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14027853" y="3791496"/>
            <a:ext cx="3129868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1950" dirty="0"/>
          </a:p>
        </p:txBody>
      </p:sp>
      <p:sp>
        <p:nvSpPr>
          <p:cNvPr id="12" name="Shape 9"/>
          <p:cNvSpPr/>
          <p:nvPr/>
        </p:nvSpPr>
        <p:spPr>
          <a:xfrm>
            <a:off x="1414801" y="5735992"/>
            <a:ext cx="15458386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3" name="Text 10"/>
          <p:cNvSpPr/>
          <p:nvPr/>
        </p:nvSpPr>
        <p:spPr>
          <a:xfrm>
            <a:off x="1414801" y="4627449"/>
            <a:ext cx="4605317" cy="860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719"/>
              </a:lnSpc>
              <a:buNone/>
            </a:pPr>
            <a:r>
              <a:rPr lang="en-US" sz="24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slips past the phase gate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6228841" y="4755837"/>
            <a:ext cx="1479525" cy="566051"/>
          </a:xfrm>
          <a:prstGeom prst="roundRect">
            <a:avLst>
              <a:gd name="adj" fmla="val 50000"/>
            </a:avLst>
          </a:prstGeom>
          <a:solidFill>
            <a:srgbClr val="F1F1FE"/>
          </a:solidFill>
          <a:ln/>
        </p:spPr>
      </p:sp>
      <p:sp>
        <p:nvSpPr>
          <p:cNvPr id="15" name="Text 12"/>
          <p:cNvSpPr/>
          <p:nvPr/>
        </p:nvSpPr>
        <p:spPr>
          <a:xfrm>
            <a:off x="6457441" y="4851087"/>
            <a:ext cx="1098525" cy="4136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950" dirty="0"/>
          </a:p>
        </p:txBody>
      </p:sp>
      <p:sp>
        <p:nvSpPr>
          <p:cNvPr id="16" name="Text 13"/>
          <p:cNvSpPr/>
          <p:nvPr/>
        </p:nvSpPr>
        <p:spPr>
          <a:xfrm>
            <a:off x="9213731" y="4653208"/>
            <a:ext cx="4605401" cy="8094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35"/>
              </a:lnSpc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scope for the first release, contingency already in the ask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4027853" y="4653208"/>
            <a:ext cx="2930694" cy="8094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35"/>
              </a:lnSpc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delivery lead</a:t>
            </a:r>
            <a:endParaRPr lang="en-US" sz="2250" dirty="0"/>
          </a:p>
        </p:txBody>
      </p:sp>
      <p:sp>
        <p:nvSpPr>
          <p:cNvPr id="18" name="Shape 15"/>
          <p:cNvSpPr/>
          <p:nvPr/>
        </p:nvSpPr>
        <p:spPr>
          <a:xfrm>
            <a:off x="1414801" y="7083949"/>
            <a:ext cx="15458386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9" name="Text 16"/>
          <p:cNvSpPr/>
          <p:nvPr/>
        </p:nvSpPr>
        <p:spPr>
          <a:xfrm>
            <a:off x="1414801" y="6206831"/>
            <a:ext cx="4918300" cy="449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719"/>
              </a:lnSpc>
              <a:buNone/>
            </a:pPr>
            <a:r>
              <a:rPr lang="en-US" sz="24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stalls after rollout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6228841" y="6129554"/>
            <a:ext cx="1479525" cy="566051"/>
          </a:xfrm>
          <a:prstGeom prst="roundRect">
            <a:avLst>
              <a:gd name="adj" fmla="val 50000"/>
            </a:avLst>
          </a:prstGeom>
          <a:solidFill>
            <a:srgbClr val="F1F1FE"/>
          </a:solidFill>
          <a:ln/>
        </p:spPr>
      </p:sp>
      <p:sp>
        <p:nvSpPr>
          <p:cNvPr id="21" name="Text 18"/>
          <p:cNvSpPr/>
          <p:nvPr/>
        </p:nvSpPr>
        <p:spPr>
          <a:xfrm>
            <a:off x="6457441" y="6224804"/>
            <a:ext cx="1098525" cy="4136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950" dirty="0"/>
          </a:p>
        </p:txBody>
      </p:sp>
      <p:sp>
        <p:nvSpPr>
          <p:cNvPr id="22" name="Text 19"/>
          <p:cNvSpPr/>
          <p:nvPr/>
        </p:nvSpPr>
        <p:spPr>
          <a:xfrm>
            <a:off x="9213731" y="6026924"/>
            <a:ext cx="4605401" cy="8094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35"/>
              </a:lnSpc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support funded inside the rollout phase</a:t>
            </a:r>
            <a:endParaRPr lang="en-US" sz="2250" dirty="0"/>
          </a:p>
        </p:txBody>
      </p:sp>
      <p:sp>
        <p:nvSpPr>
          <p:cNvPr id="23" name="Text 20"/>
          <p:cNvSpPr/>
          <p:nvPr/>
        </p:nvSpPr>
        <p:spPr>
          <a:xfrm>
            <a:off x="14027853" y="6026924"/>
            <a:ext cx="2930694" cy="8094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35"/>
              </a:lnSpc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business owner</a:t>
            </a:r>
            <a:endParaRPr lang="en-US" sz="2250" dirty="0"/>
          </a:p>
        </p:txBody>
      </p:sp>
      <p:sp>
        <p:nvSpPr>
          <p:cNvPr id="24" name="Text 21"/>
          <p:cNvSpPr/>
          <p:nvPr/>
        </p:nvSpPr>
        <p:spPr>
          <a:xfrm>
            <a:off x="1414801" y="7374881"/>
            <a:ext cx="4605317" cy="860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719"/>
              </a:lnSpc>
              <a:buNone/>
            </a:pPr>
            <a:r>
              <a:rPr lang="en-US" sz="240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 baseline proves wrong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228841" y="7503270"/>
            <a:ext cx="929370" cy="566051"/>
          </a:xfrm>
          <a:prstGeom prst="roundRect">
            <a:avLst>
              <a:gd name="adj" fmla="val 50000"/>
            </a:avLst>
          </a:prstGeom>
          <a:solidFill>
            <a:srgbClr val="EDFBF8"/>
          </a:solidFill>
          <a:ln/>
        </p:spPr>
      </p:sp>
      <p:sp>
        <p:nvSpPr>
          <p:cNvPr id="26" name="Text 23"/>
          <p:cNvSpPr/>
          <p:nvPr/>
        </p:nvSpPr>
        <p:spPr>
          <a:xfrm>
            <a:off x="6457441" y="7598520"/>
            <a:ext cx="548370" cy="4136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B4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1950" dirty="0"/>
          </a:p>
        </p:txBody>
      </p:sp>
      <p:sp>
        <p:nvSpPr>
          <p:cNvPr id="27" name="Text 24"/>
          <p:cNvSpPr/>
          <p:nvPr/>
        </p:nvSpPr>
        <p:spPr>
          <a:xfrm>
            <a:off x="9213731" y="7400641"/>
            <a:ext cx="4605401" cy="8094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35"/>
              </a:lnSpc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measured and signed off before build starts</a:t>
            </a:r>
            <a:endParaRPr lang="en-US" sz="2250" dirty="0"/>
          </a:p>
        </p:txBody>
      </p:sp>
      <p:sp>
        <p:nvSpPr>
          <p:cNvPr id="28" name="Text 25"/>
          <p:cNvSpPr/>
          <p:nvPr/>
        </p:nvSpPr>
        <p:spPr>
          <a:xfrm>
            <a:off x="14027853" y="7400641"/>
            <a:ext cx="2930694" cy="8094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35"/>
              </a:lnSpc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finance partner</a:t>
            </a:r>
            <a:endParaRPr lang="en-US" sz="2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439" y="952439"/>
            <a:ext cx="18021420" cy="39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spc="488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SECTIONS 12 AND 13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52439" y="1502839"/>
            <a:ext cx="18021420" cy="696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478"/>
              </a:lnSpc>
              <a:buNone/>
            </a:pPr>
            <a:r>
              <a:rPr lang="en-US" sz="4800" b="1" spc="-48" kern="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approval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52439" y="2580243"/>
            <a:ext cx="8382018" cy="6944801"/>
          </a:xfrm>
          <a:prstGeom prst="roundRect">
            <a:avLst>
              <a:gd name="adj" fmla="val 2743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409584" y="3037387"/>
            <a:ext cx="761935" cy="761935"/>
          </a:xfrm>
          <a:prstGeom prst="roundRect">
            <a:avLst>
              <a:gd name="adj" fmla="val 27502"/>
            </a:avLst>
          </a:prstGeom>
          <a:solidFill>
            <a:srgbClr val="EDFBF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09544" y="3237347"/>
            <a:ext cx="361933" cy="36193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09584" y="4027895"/>
            <a:ext cx="8214502" cy="523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1409584" y="4741653"/>
            <a:ext cx="7691761" cy="891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79"/>
              </a:lnSpc>
              <a:buNone/>
            </a:pPr>
            <a:r>
              <a:rPr lang="en-US" sz="2400" dirty="0">
                <a:solidFill>
                  <a:srgbClr val="33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immediately after this is approved.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1409584" y="5823540"/>
            <a:ext cx="7467729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10" name="Text 7"/>
          <p:cNvSpPr/>
          <p:nvPr/>
        </p:nvSpPr>
        <p:spPr>
          <a:xfrm>
            <a:off x="1409584" y="6061569"/>
            <a:ext cx="3175329" cy="3459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spc="294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4524819" y="6061569"/>
            <a:ext cx="2268157" cy="3459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spc="294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815352" y="6061569"/>
            <a:ext cx="2268067" cy="3459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spc="294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1409584" y="6597947"/>
            <a:ext cx="8214502" cy="4381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814"/>
              </a:lnSpc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to five actions, all inside the first thirty days.</a:t>
            </a:r>
            <a:endParaRPr lang="en-US" sz="2250" dirty="0"/>
          </a:p>
        </p:txBody>
      </p:sp>
      <p:sp>
        <p:nvSpPr>
          <p:cNvPr id="14" name="Shape 11"/>
          <p:cNvSpPr/>
          <p:nvPr/>
        </p:nvSpPr>
        <p:spPr>
          <a:xfrm>
            <a:off x="9715384" y="2580243"/>
            <a:ext cx="7620165" cy="6944801"/>
          </a:xfrm>
          <a:prstGeom prst="roundRect">
            <a:avLst>
              <a:gd name="adj" fmla="val 2743"/>
            </a:avLst>
          </a:prstGeom>
          <a:solidFill>
            <a:srgbClr val="FFFFFF"/>
          </a:solidFill>
          <a:ln/>
        </p:spPr>
      </p:sp>
      <p:sp>
        <p:nvSpPr>
          <p:cNvPr id="15" name="Shape 12"/>
          <p:cNvSpPr/>
          <p:nvPr/>
        </p:nvSpPr>
        <p:spPr>
          <a:xfrm>
            <a:off x="10172529" y="3037387"/>
            <a:ext cx="761935" cy="761935"/>
          </a:xfrm>
          <a:prstGeom prst="roundRect">
            <a:avLst>
              <a:gd name="adj" fmla="val 27502"/>
            </a:avLst>
          </a:prstGeom>
          <a:solidFill>
            <a:srgbClr val="F1F1FE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72489" y="3237347"/>
            <a:ext cx="361933" cy="36193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172529" y="4027895"/>
            <a:ext cx="7376463" cy="523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3300" dirty="0"/>
          </a:p>
        </p:txBody>
      </p:sp>
      <p:sp>
        <p:nvSpPr>
          <p:cNvPr id="18" name="Text 14"/>
          <p:cNvSpPr/>
          <p:nvPr/>
        </p:nvSpPr>
        <p:spPr>
          <a:xfrm>
            <a:off x="10172529" y="4741653"/>
            <a:ext cx="6907052" cy="891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79"/>
              </a:lnSpc>
              <a:buNone/>
            </a:pPr>
            <a:r>
              <a:rPr lang="en-US" sz="2400" dirty="0">
                <a:solidFill>
                  <a:srgbClr val="33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detail, sources and calculations that back the numbers above.</a:t>
            </a:r>
            <a:endParaRPr lang="en-US" sz="2400" dirty="0"/>
          </a:p>
        </p:txBody>
      </p:sp>
      <p:sp>
        <p:nvSpPr>
          <p:cNvPr id="19" name="Shape 15"/>
          <p:cNvSpPr/>
          <p:nvPr/>
        </p:nvSpPr>
        <p:spPr>
          <a:xfrm>
            <a:off x="10172529" y="5823540"/>
            <a:ext cx="6705876" cy="9525"/>
          </a:xfrm>
          <a:prstGeom prst="rect">
            <a:avLst/>
          </a:prstGeom>
          <a:solidFill>
            <a:srgbClr val="ECEFF7"/>
          </a:solidFill>
          <a:ln/>
        </p:spPr>
      </p:sp>
      <p:sp>
        <p:nvSpPr>
          <p:cNvPr id="20" name="Text 16"/>
          <p:cNvSpPr/>
          <p:nvPr/>
        </p:nvSpPr>
        <p:spPr>
          <a:xfrm>
            <a:off x="10172529" y="6061569"/>
            <a:ext cx="7376463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model workings</a:t>
            </a:r>
            <a:endParaRPr lang="en-US" sz="2250" dirty="0"/>
          </a:p>
        </p:txBody>
      </p:sp>
      <p:sp>
        <p:nvSpPr>
          <p:cNvPr id="21" name="Text 17"/>
          <p:cNvSpPr/>
          <p:nvPr/>
        </p:nvSpPr>
        <p:spPr>
          <a:xfrm>
            <a:off x="10172529" y="6603654"/>
            <a:ext cx="7376463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and vendor sources</a:t>
            </a:r>
            <a:endParaRPr lang="en-US" sz="2250" dirty="0"/>
          </a:p>
        </p:txBody>
      </p:sp>
      <p:sp>
        <p:nvSpPr>
          <p:cNvPr id="22" name="Text 18"/>
          <p:cNvSpPr/>
          <p:nvPr/>
        </p:nvSpPr>
        <p:spPr>
          <a:xfrm>
            <a:off x="10172529" y="7145738"/>
            <a:ext cx="7376463" cy="4658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B55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measurement method</a:t>
            </a:r>
            <a:endParaRPr lang="en-US" sz="2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439" y="952439"/>
            <a:ext cx="18021420" cy="39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spc="488" kern="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· NEXT STEP</a:t>
            </a:r>
            <a:endParaRPr lang="en-US" sz="1875" dirty="0"/>
          </a:p>
        </p:txBody>
      </p:sp>
      <p:sp>
        <p:nvSpPr>
          <p:cNvPr id="3" name="Text 1"/>
          <p:cNvSpPr/>
          <p:nvPr/>
        </p:nvSpPr>
        <p:spPr>
          <a:xfrm>
            <a:off x="952439" y="1502839"/>
            <a:ext cx="18021420" cy="696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478"/>
              </a:lnSpc>
              <a:buNone/>
            </a:pPr>
            <a:r>
              <a:rPr lang="en-US" sz="4800" b="1" spc="-48" kern="0" dirty="0">
                <a:solidFill>
                  <a:srgbClr val="121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document closes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52439" y="2656461"/>
            <a:ext cx="16383109" cy="6868582"/>
          </a:xfrm>
          <a:prstGeom prst="roundRect">
            <a:avLst>
              <a:gd name="adj" fmla="val 4992"/>
            </a:avLst>
          </a:prstGeom>
          <a:gradFill rotWithShape="1">
            <a:gsLst>
              <a:gs pos="0">
                <a:srgbClr val="0C1244">
                  <a:alpha val="100000"/>
                </a:srgbClr>
              </a:gs>
              <a:gs pos="55000">
                <a:srgbClr val="1E2A6B">
                  <a:alpha val="100000"/>
                </a:srgbClr>
              </a:gs>
              <a:gs pos="100000">
                <a:srgbClr val="3B2E7E">
                  <a:alpha val="100000"/>
                </a:srgbClr>
              </a:gs>
            </a:gsLst>
            <a:lin ang="1800000" scaled="0"/>
          </a:gradFill>
          <a:ln/>
        </p:spPr>
      </p:sp>
      <p:sp>
        <p:nvSpPr>
          <p:cNvPr id="5" name="Shape 3"/>
          <p:cNvSpPr/>
          <p:nvPr/>
        </p:nvSpPr>
        <p:spPr>
          <a:xfrm>
            <a:off x="14446684" y="1799233"/>
            <a:ext cx="3460295" cy="3460295"/>
          </a:xfrm>
          <a:prstGeom prst="roundRect">
            <a:avLst>
              <a:gd name="adj" fmla="val 27527"/>
            </a:avLst>
          </a:prstGeom>
          <a:ln w="15651">
            <a:solidFill>
              <a:srgbClr val="FFFFFF">
                <a:alpha val="14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38238" y="4710025"/>
            <a:ext cx="285715" cy="2857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14376" y="4709454"/>
            <a:ext cx="1752475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90" kern="0" dirty="0">
                <a:solidFill>
                  <a:srgbClr val="A98B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950" dirty="0"/>
          </a:p>
        </p:txBody>
      </p:sp>
      <p:sp>
        <p:nvSpPr>
          <p:cNvPr id="8" name="Text 5"/>
          <p:cNvSpPr/>
          <p:nvPr/>
        </p:nvSpPr>
        <p:spPr>
          <a:xfrm>
            <a:off x="1638238" y="5129672"/>
            <a:ext cx="7879143" cy="501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308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the five, recorded on the day.</a:t>
            </a:r>
            <a:endParaRPr lang="en-US" sz="27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86893" y="4710025"/>
            <a:ext cx="285715" cy="28571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963031" y="4709454"/>
            <a:ext cx="131641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90" kern="0" dirty="0">
                <a:solidFill>
                  <a:srgbClr val="A98B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1950" dirty="0"/>
          </a:p>
        </p:txBody>
      </p:sp>
      <p:sp>
        <p:nvSpPr>
          <p:cNvPr id="11" name="Text 7"/>
          <p:cNvSpPr/>
          <p:nvPr/>
        </p:nvSpPr>
        <p:spPr>
          <a:xfrm>
            <a:off x="9486893" y="5129672"/>
            <a:ext cx="7879143" cy="501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308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person accountable for the outcome.</a:t>
            </a:r>
            <a:endParaRPr lang="en-US" sz="27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38238" y="6126538"/>
            <a:ext cx="285715" cy="28571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114376" y="6125967"/>
            <a:ext cx="4232607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90" kern="0" dirty="0">
                <a:solidFill>
                  <a:srgbClr val="A98B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RATIONALE / EVIDENCE</a:t>
            </a:r>
            <a:endParaRPr lang="en-US" sz="1950" dirty="0"/>
          </a:p>
        </p:txBody>
      </p:sp>
      <p:sp>
        <p:nvSpPr>
          <p:cNvPr id="14" name="Text 9"/>
          <p:cNvSpPr/>
          <p:nvPr/>
        </p:nvSpPr>
        <p:spPr>
          <a:xfrm>
            <a:off x="1638238" y="6546185"/>
            <a:ext cx="7879143" cy="501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308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section carried the argument.</a:t>
            </a:r>
            <a:endParaRPr lang="en-US" sz="27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486893" y="6126538"/>
            <a:ext cx="285715" cy="28571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963031" y="6125967"/>
            <a:ext cx="3724996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390" kern="0" dirty="0">
                <a:solidFill>
                  <a:srgbClr val="A98B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ACTION / DATE</a:t>
            </a:r>
            <a:endParaRPr lang="en-US" sz="1950" dirty="0"/>
          </a:p>
        </p:txBody>
      </p:sp>
      <p:sp>
        <p:nvSpPr>
          <p:cNvPr id="17" name="Text 11"/>
          <p:cNvSpPr/>
          <p:nvPr/>
        </p:nvSpPr>
        <p:spPr>
          <a:xfrm>
            <a:off x="9486893" y="6546185"/>
            <a:ext cx="7377743" cy="963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308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step from section twelve, with its date.</a:t>
            </a:r>
            <a:endParaRPr lang="en-US" sz="2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2026-09-17T20:07:05Z</dcterms:created>
  <dcterms:modified xsi:type="dcterms:W3CDTF">2026-09-17T20:07:05Z</dcterms:modified>
</cp:coreProperties>
</file>