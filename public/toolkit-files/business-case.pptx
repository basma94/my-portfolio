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80">
                <a:solidFill>
                  <a:srgbClr val="6B7599"/>
                </a:solidFill>
                <a:latin typeface="Poppins"/>
              </a:rPr>
              <a:t>02 STRATEGISE · BUSINESS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0"/>
            <a:ext cx="11094415" cy="38100"/>
          </a:xfrm>
          <a:prstGeom prst="rect">
            <a:avLst/>
          </a:prstGeom>
          <a:gradFill rotWithShape="1">
            <a:gsLst>
              <a:gs pos="0">
                <a:srgbClr val="00D1B2"/>
              </a:gs>
              <a:gs pos="100000">
                <a:srgbClr val="4F46E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50">
                <a:solidFill>
                  <a:srgbClr val="6B7599"/>
                </a:solidFill>
                <a:latin typeface="Poppins"/>
              </a:rPr>
              <a:t>02 STRATEGISE ·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2123A"/>
                </a:solidFill>
                <a:latin typeface="Poppins"/>
              </a:rPr>
              <a:t>Business Case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5394960" cy="137160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C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80">
                <a:solidFill>
                  <a:srgbClr val="6B7599"/>
                </a:solidFill>
                <a:latin typeface="Poppins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3A6B"/>
                </a:solidFill>
                <a:latin typeface="Poppins"/>
              </a:rPr>
              <a:t>The investment argument with its assumptions visible and its ranges stated.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286000"/>
            <a:ext cx="5394960" cy="1371600"/>
          </a:xfrm>
          <a:prstGeom prst="roundRect">
            <a:avLst>
              <a:gd name="adj" fmla="val 5000"/>
            </a:avLst>
          </a:prstGeom>
          <a:solidFill>
            <a:srgbClr val="F4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4688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80">
                <a:solidFill>
                  <a:srgbClr val="4F46E5"/>
                </a:solidFill>
                <a:latin typeface="Poppins"/>
              </a:rPr>
              <a:t>Decision it serves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78892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123A"/>
                </a:solidFill>
                <a:latin typeface="Poppins"/>
              </a:rPr>
              <a:t>Fund, pilot, validate, defer or decline.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599"/>
                </a:solidFill>
                <a:latin typeface="Poppins"/>
              </a:rPr>
              <a:t>Structure is real; figures inside are illustrative until filled 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80">
                <a:solidFill>
                  <a:srgbClr val="6B7599"/>
                </a:solidFill>
                <a:latin typeface="Poppins"/>
              </a:rPr>
              <a:t>02 STRATEGISE · EXECUTIVE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66928"/>
            <a:ext cx="310896" cy="310896"/>
          </a:xfrm>
          <a:prstGeom prst="roundRect">
            <a:avLst>
              <a:gd name="adj" fmla="val 35000"/>
            </a:avLst>
          </a:prstGeom>
          <a:solidFill>
            <a:srgbClr val="F4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4F46E5"/>
                </a:solidFill>
                <a:latin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3035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2123A"/>
                </a:solidFill>
                <a:latin typeface="Poppins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A6B"/>
                </a:solidFill>
                <a:latin typeface="Poppins"/>
              </a:rPr>
              <a:t>The ask, the return and the recommendation, in one paragraph a sponsor can act on without reading further.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11094415" cy="201168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39696"/>
            <a:ext cx="1054577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542032"/>
            <a:ext cx="1054577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944368"/>
            <a:ext cx="1054577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346704"/>
            <a:ext cx="1054577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80">
                <a:solidFill>
                  <a:srgbClr val="6B7599"/>
                </a:solidFill>
                <a:latin typeface="Poppins"/>
              </a:rPr>
              <a:t>02 STRATEGISE · BACKGROUND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66928"/>
            <a:ext cx="310896" cy="310896"/>
          </a:xfrm>
          <a:prstGeom prst="roundRect">
            <a:avLst>
              <a:gd name="adj" fmla="val 35000"/>
            </a:avLst>
          </a:prstGeom>
          <a:solidFill>
            <a:srgbClr val="F4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4F46E5"/>
                </a:solidFill>
                <a:latin typeface="Poppin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3035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2123A"/>
                </a:solidFill>
                <a:latin typeface="Poppins"/>
              </a:rP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A6B"/>
                </a:solidFill>
                <a:latin typeface="Poppins"/>
              </a:rPr>
              <a:t>Why this is being proposed now, and what evidence triggered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11094415" cy="201168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39696"/>
            <a:ext cx="1054577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542032"/>
            <a:ext cx="1054577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944368"/>
            <a:ext cx="1054577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346704"/>
            <a:ext cx="1054577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80">
                <a:solidFill>
                  <a:srgbClr val="6B7599"/>
                </a:solidFill>
                <a:latin typeface="Poppins"/>
              </a:rPr>
              <a:t>02 STRATEGISE ·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66928"/>
            <a:ext cx="310896" cy="310896"/>
          </a:xfrm>
          <a:prstGeom prst="roundRect">
            <a:avLst>
              <a:gd name="adj" fmla="val 35000"/>
            </a:avLst>
          </a:prstGeom>
          <a:solidFill>
            <a:srgbClr val="F4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4F46E5"/>
                </a:solidFill>
                <a:latin typeface="Poppin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3035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2123A"/>
                </a:solidFill>
                <a:latin typeface="Poppins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A6B"/>
                </a:solidFill>
                <a:latin typeface="Poppins"/>
              </a:rPr>
              <a:t>What this investment covers, and what it deliberately does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3643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B7599"/>
                </a:solidFill>
                <a:latin typeface="Poppins"/>
              </a:rPr>
              <a:t>IN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21408"/>
            <a:ext cx="5364327" cy="21945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C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727" y="1828800"/>
            <a:ext cx="53643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B7599"/>
                </a:solidFill>
                <a:latin typeface="Poppins"/>
              </a:rPr>
              <a:t>OUT OF SCOPE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121408"/>
            <a:ext cx="5364327" cy="21945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C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80">
                <a:solidFill>
                  <a:srgbClr val="6B7599"/>
                </a:solidFill>
                <a:latin typeface="Poppins"/>
              </a:rPr>
              <a:t>02 STRATEGISE · PROPOSED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66928"/>
            <a:ext cx="310896" cy="310896"/>
          </a:xfrm>
          <a:prstGeom prst="roundRect">
            <a:avLst>
              <a:gd name="adj" fmla="val 35000"/>
            </a:avLst>
          </a:prstGeom>
          <a:solidFill>
            <a:srgbClr val="F4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4F46E5"/>
                </a:solidFill>
                <a:latin typeface="Poppin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3035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2123A"/>
                </a:solidFill>
                <a:latin typeface="Poppins"/>
              </a:rPr>
              <a:t>Proposed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A6B"/>
                </a:solidFill>
                <a:latin typeface="Poppins"/>
              </a:rPr>
              <a:t>What is being built or bought, in plain terms.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11094415" cy="201168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39696"/>
            <a:ext cx="1054577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542032"/>
            <a:ext cx="1054577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944368"/>
            <a:ext cx="1054577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346704"/>
            <a:ext cx="1054577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80">
                <a:solidFill>
                  <a:srgbClr val="6B7599"/>
                </a:solidFill>
                <a:latin typeface="Poppins"/>
              </a:rPr>
              <a:t>02 STRATEGISE · OTHER OPTIONS CONSIDERED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66928"/>
            <a:ext cx="310896" cy="310896"/>
          </a:xfrm>
          <a:prstGeom prst="roundRect">
            <a:avLst>
              <a:gd name="adj" fmla="val 35000"/>
            </a:avLst>
          </a:prstGeom>
          <a:solidFill>
            <a:srgbClr val="F4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4F46E5"/>
                </a:solidFill>
                <a:latin typeface="Poppin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3035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2123A"/>
                </a:solidFill>
                <a:latin typeface="Poppins"/>
              </a:rPr>
              <a:t>Other options considered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A6B"/>
                </a:solidFill>
                <a:latin typeface="Poppins"/>
              </a:rPr>
              <a:t>What else was on the table, and why it lost to the proposed solution.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1" y="1828800"/>
          <a:ext cx="1109441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3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Option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Pros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Cons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Why not chosen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80">
                <a:solidFill>
                  <a:srgbClr val="6B7599"/>
                </a:solidFill>
                <a:latin typeface="Poppins"/>
              </a:rPr>
              <a:t>02 STRATEGISE · TIMEFRAME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66928"/>
            <a:ext cx="310896" cy="310896"/>
          </a:xfrm>
          <a:prstGeom prst="roundRect">
            <a:avLst>
              <a:gd name="adj" fmla="val 35000"/>
            </a:avLst>
          </a:prstGeom>
          <a:solidFill>
            <a:srgbClr val="F4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4F46E5"/>
                </a:solidFill>
                <a:latin typeface="Poppin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3035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2123A"/>
                </a:solidFill>
                <a:latin typeface="Poppins"/>
              </a:rPr>
              <a:t>Timeframe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A6B"/>
                </a:solidFill>
                <a:latin typeface="Poppins"/>
              </a:rPr>
              <a:t>The phases this runs through, and who owns each one.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2" y="1828800"/>
          <a:ext cx="11094411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3044"/>
                <a:gridCol w="2218882"/>
                <a:gridCol w="2218882"/>
                <a:gridCol w="2773603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Phase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Start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End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Owner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80">
                <a:solidFill>
                  <a:srgbClr val="6B7599"/>
                </a:solidFill>
                <a:latin typeface="Poppins"/>
              </a:rPr>
              <a:t>02 STRATEGISE ·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66928"/>
            <a:ext cx="310896" cy="310896"/>
          </a:xfrm>
          <a:prstGeom prst="roundRect">
            <a:avLst>
              <a:gd name="adj" fmla="val 35000"/>
            </a:avLst>
          </a:prstGeom>
          <a:solidFill>
            <a:srgbClr val="F4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4F46E5"/>
                </a:solidFill>
                <a:latin typeface="Poppins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3035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2123A"/>
                </a:solidFill>
                <a:latin typeface="Poppins"/>
              </a:rPr>
              <a:t>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A6B"/>
                </a:solidFill>
                <a:latin typeface="Poppins"/>
              </a:rPr>
              <a:t>What changes, for whom, stated as a measurable driver rather than a promise.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3" y="1828800"/>
          <a:ext cx="1109440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5683"/>
                <a:gridCol w="2496242"/>
                <a:gridCol w="2496242"/>
                <a:gridCol w="2496242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Benefit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Type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Baseline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Target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80">
                <a:solidFill>
                  <a:srgbClr val="6B7599"/>
                </a:solidFill>
                <a:latin typeface="Poppins"/>
              </a:rPr>
              <a:t>02 STRATEGISE · COST OF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66928"/>
            <a:ext cx="310896" cy="310896"/>
          </a:xfrm>
          <a:prstGeom prst="roundRect">
            <a:avLst>
              <a:gd name="adj" fmla="val 35000"/>
            </a:avLst>
          </a:prstGeom>
          <a:solidFill>
            <a:srgbClr val="F4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4F46E5"/>
                </a:solidFill>
                <a:latin typeface="Poppin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3035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2123A"/>
                </a:solidFill>
                <a:latin typeface="Poppins"/>
              </a:rPr>
              <a:t>Cost of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A6B"/>
                </a:solidFill>
                <a:latin typeface="Poppins"/>
              </a:rPr>
              <a:t>The one-off investment required to deliver this.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11094414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7766"/>
                <a:gridCol w="2662659"/>
                <a:gridCol w="3993989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Cost item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One-off amount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Notes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80">
                <a:solidFill>
                  <a:srgbClr val="6B7599"/>
                </a:solidFill>
                <a:latin typeface="Poppins"/>
              </a:rPr>
              <a:t>02 STRATEGISE · RECURRING COSTS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66928"/>
            <a:ext cx="310896" cy="310896"/>
          </a:xfrm>
          <a:prstGeom prst="roundRect">
            <a:avLst>
              <a:gd name="adj" fmla="val 35000"/>
            </a:avLst>
          </a:prstGeom>
          <a:solidFill>
            <a:srgbClr val="F4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4F46E5"/>
                </a:solidFill>
                <a:latin typeface="Poppins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3035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2123A"/>
                </a:solidFill>
                <a:latin typeface="Poppins"/>
              </a:rPr>
              <a:t>Recurring costs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A6B"/>
                </a:solidFill>
                <a:latin typeface="Poppins"/>
              </a:rPr>
              <a:t>What this costs to run every year once it is live.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11094414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7766"/>
                <a:gridCol w="2662659"/>
                <a:gridCol w="3993989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Cost item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Annual amount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Notes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80">
                <a:solidFill>
                  <a:srgbClr val="6B7599"/>
                </a:solidFill>
                <a:latin typeface="Poppins"/>
              </a:rPr>
              <a:t>02 STRATEGISE · TIME AND COST SAVINGS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66928"/>
            <a:ext cx="310896" cy="310896"/>
          </a:xfrm>
          <a:prstGeom prst="roundRect">
            <a:avLst>
              <a:gd name="adj" fmla="val 35000"/>
            </a:avLst>
          </a:prstGeom>
          <a:solidFill>
            <a:srgbClr val="F4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4F46E5"/>
                </a:solidFill>
                <a:latin typeface="Poppin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3035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2123A"/>
                </a:solidFill>
                <a:latin typeface="Poppins"/>
              </a:rPr>
              <a:t>Time and cost savings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A6B"/>
                </a:solidFill>
                <a:latin typeface="Poppins"/>
              </a:rPr>
              <a:t>The offsetting value, stated with its basis so it can be checked later.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11094414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101"/>
                <a:gridCol w="2884547"/>
                <a:gridCol w="4437766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Saving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Annual value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Basis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80">
                <a:solidFill>
                  <a:srgbClr val="6B7599"/>
                </a:solidFill>
                <a:latin typeface="Poppins"/>
              </a:rPr>
              <a:t>02 STRATEGISE · RISKS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66928"/>
            <a:ext cx="310896" cy="310896"/>
          </a:xfrm>
          <a:prstGeom prst="roundRect">
            <a:avLst>
              <a:gd name="adj" fmla="val 35000"/>
            </a:avLst>
          </a:prstGeom>
          <a:solidFill>
            <a:srgbClr val="F4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4F46E5"/>
                </a:solidFill>
                <a:latin typeface="Poppin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3035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2123A"/>
                </a:solidFill>
                <a:latin typeface="Poppins"/>
              </a:rPr>
              <a:t>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A6B"/>
                </a:solidFill>
                <a:latin typeface="Poppins"/>
              </a:rPr>
              <a:t>What could make this go wrong, and who is watching for it.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1" y="1828800"/>
          <a:ext cx="11094413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212"/>
                <a:gridCol w="1996994"/>
                <a:gridCol w="3328324"/>
                <a:gridCol w="2218883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Risk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Likelihood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Mitigation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Owner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80">
                <a:solidFill>
                  <a:srgbClr val="6B7599"/>
                </a:solidFill>
                <a:latin typeface="Poppins"/>
              </a:rPr>
              <a:t>02 STRATEGISE ·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66928"/>
            <a:ext cx="310896" cy="310896"/>
          </a:xfrm>
          <a:prstGeom prst="roundRect">
            <a:avLst>
              <a:gd name="adj" fmla="val 35000"/>
            </a:avLst>
          </a:prstGeom>
          <a:solidFill>
            <a:srgbClr val="F4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4F46E5"/>
                </a:solidFill>
                <a:latin typeface="Poppin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3035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2123A"/>
                </a:solidFill>
                <a:latin typeface="Poppins"/>
              </a:rP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A6B"/>
                </a:solidFill>
                <a:latin typeface="Poppins"/>
              </a:rPr>
              <a:t>What happens immediately after this is approved.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11094414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3430"/>
                <a:gridCol w="2995492"/>
                <a:gridCol w="299549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Action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Owner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2123A"/>
                          </a:solidFill>
                          <a:latin typeface="Poppins"/>
                        </a:rPr>
                        <a:t>Date</a:t>
                      </a:r>
                    </a:p>
                  </a:txBody>
                  <a:tcPr marL="91440" marT="45720" marB="45720">
                    <a:solidFill>
                      <a:srgbClr val="F4F6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Poppins"/>
                        </a:rPr>
                        <a:t/>
                      </a:r>
                    </a:p>
                  </a:txBody>
                  <a:tcPr marL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80">
                <a:solidFill>
                  <a:srgbClr val="6B7599"/>
                </a:solidFill>
                <a:latin typeface="Poppins"/>
              </a:rPr>
              <a:t>02 STRATEGISE · APPENDIX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66928"/>
            <a:ext cx="310896" cy="310896"/>
          </a:xfrm>
          <a:prstGeom prst="roundRect">
            <a:avLst>
              <a:gd name="adj" fmla="val 35000"/>
            </a:avLst>
          </a:prstGeom>
          <a:solidFill>
            <a:srgbClr val="F4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4F46E5"/>
                </a:solidFill>
                <a:latin typeface="Poppin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3035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2123A"/>
                </a:solidFill>
                <a:latin typeface="Poppin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A6B"/>
                </a:solidFill>
                <a:latin typeface="Poppins"/>
              </a:rPr>
              <a:t>Supporting detail, sources and calculations that back the numbers above.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B7599"/>
                </a:solidFill>
                <a:latin typeface="Poppins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21408"/>
            <a:ext cx="11094415" cy="237744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C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80">
                <a:solidFill>
                  <a:srgbClr val="6B7599"/>
                </a:solidFill>
                <a:latin typeface="Poppins"/>
              </a:rPr>
              <a:t>02 STRATEGISE ·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94415" cy="4114800"/>
          </a:xfrm>
          <a:prstGeom prst="roundRect">
            <a:avLst>
              <a:gd name="adj" fmla="val 5000"/>
            </a:avLst>
          </a:prstGeom>
          <a:solidFill>
            <a:srgbClr val="F4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10180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180">
                <a:solidFill>
                  <a:srgbClr val="4F46E5"/>
                </a:solidFill>
                <a:latin typeface="Poppins"/>
              </a:rPr>
              <a:t>Decision / next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2123A"/>
                </a:solidFill>
                <a:latin typeface="Poppins"/>
              </a:rPr>
              <a:t>Decision: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2359152"/>
            <a:ext cx="761969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2123A"/>
                </a:solidFill>
                <a:latin typeface="Poppins"/>
              </a:rPr>
              <a:t>Owner: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3136392"/>
            <a:ext cx="761969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2123A"/>
                </a:solidFill>
                <a:latin typeface="Poppins"/>
              </a:rPr>
              <a:t>Rationale / evidence: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3913632"/>
            <a:ext cx="761969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2123A"/>
                </a:solidFill>
                <a:latin typeface="Poppins"/>
              </a:rPr>
              <a:t>Next action / date: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4690872"/>
            <a:ext cx="7619695" cy="12700"/>
          </a:xfrm>
          <a:prstGeom prst="rect">
            <a:avLst/>
          </a:prstGeom>
          <a:solidFill>
            <a:srgbClr val="EC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